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70" d="100"/>
          <a:sy n="70" d="100"/>
        </p:scale>
        <p:origin x="738"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E1984FD-C22D-418B-B36D-AEE71E30C59F}" type="datetimeFigureOut">
              <a:rPr lang="en-GB" smtClean="0"/>
              <a:t>25/03/2025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143528D-76FF-4CB8-A07D-DC54197119BF}" type="slidenum">
              <a:rPr lang="en-GB" smtClean="0"/>
              <a:t>‹#›</a:t>
            </a:fld>
            <a:endParaRPr lang="en-GB"/>
          </a:p>
        </p:txBody>
      </p:sp>
    </p:spTree>
    <p:extLst>
      <p:ext uri="{BB962C8B-B14F-4D97-AF65-F5344CB8AC3E}">
        <p14:creationId xmlns:p14="http://schemas.microsoft.com/office/powerpoint/2010/main" val="499161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1984FD-C22D-418B-B36D-AEE71E30C59F}" type="datetimeFigureOut">
              <a:rPr lang="en-GB" smtClean="0"/>
              <a:t>25/03/2025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143528D-76FF-4CB8-A07D-DC54197119BF}" type="slidenum">
              <a:rPr lang="en-GB" smtClean="0"/>
              <a:t>‹#›</a:t>
            </a:fld>
            <a:endParaRPr lang="en-GB"/>
          </a:p>
        </p:txBody>
      </p:sp>
    </p:spTree>
    <p:extLst>
      <p:ext uri="{BB962C8B-B14F-4D97-AF65-F5344CB8AC3E}">
        <p14:creationId xmlns:p14="http://schemas.microsoft.com/office/powerpoint/2010/main" val="32997855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1984FD-C22D-418B-B36D-AEE71E30C59F}" type="datetimeFigureOut">
              <a:rPr lang="en-GB" smtClean="0"/>
              <a:t>25/03/2025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143528D-76FF-4CB8-A07D-DC54197119BF}" type="slidenum">
              <a:rPr lang="en-GB" smtClean="0"/>
              <a:t>‹#›</a:t>
            </a:fld>
            <a:endParaRPr lang="en-GB"/>
          </a:p>
        </p:txBody>
      </p:sp>
    </p:spTree>
    <p:extLst>
      <p:ext uri="{BB962C8B-B14F-4D97-AF65-F5344CB8AC3E}">
        <p14:creationId xmlns:p14="http://schemas.microsoft.com/office/powerpoint/2010/main" val="3350675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E1984FD-C22D-418B-B36D-AEE71E30C59F}" type="datetimeFigureOut">
              <a:rPr lang="en-GB" smtClean="0"/>
              <a:t>25/03/2025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143528D-76FF-4CB8-A07D-DC54197119BF}" type="slidenum">
              <a:rPr lang="en-GB" smtClean="0"/>
              <a:t>‹#›</a:t>
            </a:fld>
            <a:endParaRPr lang="en-GB"/>
          </a:p>
        </p:txBody>
      </p:sp>
    </p:spTree>
    <p:extLst>
      <p:ext uri="{BB962C8B-B14F-4D97-AF65-F5344CB8AC3E}">
        <p14:creationId xmlns:p14="http://schemas.microsoft.com/office/powerpoint/2010/main" val="1186957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E1984FD-C22D-418B-B36D-AEE71E30C59F}" type="datetimeFigureOut">
              <a:rPr lang="en-GB" smtClean="0"/>
              <a:t>25/03/2025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2143528D-76FF-4CB8-A07D-DC54197119BF}" type="slidenum">
              <a:rPr lang="en-GB" smtClean="0"/>
              <a:t>‹#›</a:t>
            </a:fld>
            <a:endParaRPr lang="en-GB"/>
          </a:p>
        </p:txBody>
      </p:sp>
    </p:spTree>
    <p:extLst>
      <p:ext uri="{BB962C8B-B14F-4D97-AF65-F5344CB8AC3E}">
        <p14:creationId xmlns:p14="http://schemas.microsoft.com/office/powerpoint/2010/main" val="3433689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8E1984FD-C22D-418B-B36D-AEE71E30C59F}" type="datetimeFigureOut">
              <a:rPr lang="en-GB" smtClean="0"/>
              <a:t>25/03/2025</a:t>
            </a:fld>
            <a:endParaRPr lang="en-GB"/>
          </a:p>
        </p:txBody>
      </p:sp>
      <p:sp>
        <p:nvSpPr>
          <p:cNvPr id="5" name="Footer Placeholder 3"/>
          <p:cNvSpPr>
            <a:spLocks noGrp="1"/>
          </p:cNvSpPr>
          <p:nvPr>
            <p:ph type="ftr" sz="quarter" idx="11"/>
          </p:nvPr>
        </p:nvSpPr>
        <p:spPr/>
        <p:txBody>
          <a:bodyPr/>
          <a:lstStyle/>
          <a:p>
            <a:endParaRPr lang="en-GB"/>
          </a:p>
        </p:txBody>
      </p:sp>
      <p:sp>
        <p:nvSpPr>
          <p:cNvPr id="6" name="Slide Number Placeholder 4"/>
          <p:cNvSpPr>
            <a:spLocks noGrp="1"/>
          </p:cNvSpPr>
          <p:nvPr>
            <p:ph type="sldNum" sz="quarter" idx="12"/>
          </p:nvPr>
        </p:nvSpPr>
        <p:spPr/>
        <p:txBody>
          <a:bodyPr/>
          <a:lstStyle/>
          <a:p>
            <a:fld id="{2143528D-76FF-4CB8-A07D-DC54197119BF}" type="slidenum">
              <a:rPr lang="en-GB" smtClean="0"/>
              <a:t>‹#›</a:t>
            </a:fld>
            <a:endParaRPr lang="en-GB"/>
          </a:p>
        </p:txBody>
      </p:sp>
    </p:spTree>
    <p:extLst>
      <p:ext uri="{BB962C8B-B14F-4D97-AF65-F5344CB8AC3E}">
        <p14:creationId xmlns:p14="http://schemas.microsoft.com/office/powerpoint/2010/main" val="35072819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8E1984FD-C22D-418B-B36D-AEE71E30C59F}" type="datetimeFigureOut">
              <a:rPr lang="en-GB" smtClean="0"/>
              <a:t>25/03/2025</a:t>
            </a:fld>
            <a:endParaRPr lang="en-GB"/>
          </a:p>
        </p:txBody>
      </p:sp>
      <p:sp>
        <p:nvSpPr>
          <p:cNvPr id="5" name="Footer Placeholder 2"/>
          <p:cNvSpPr>
            <a:spLocks noGrp="1"/>
          </p:cNvSpPr>
          <p:nvPr>
            <p:ph type="ftr" sz="quarter" idx="11"/>
          </p:nvPr>
        </p:nvSpPr>
        <p:spPr/>
        <p:txBody>
          <a:bodyPr/>
          <a:lstStyle/>
          <a:p>
            <a:endParaRPr lang="en-GB"/>
          </a:p>
        </p:txBody>
      </p:sp>
      <p:sp>
        <p:nvSpPr>
          <p:cNvPr id="6" name="Slide Number Placeholder 3"/>
          <p:cNvSpPr>
            <a:spLocks noGrp="1"/>
          </p:cNvSpPr>
          <p:nvPr>
            <p:ph type="sldNum" sz="quarter" idx="12"/>
          </p:nvPr>
        </p:nvSpPr>
        <p:spPr/>
        <p:txBody>
          <a:bodyPr/>
          <a:lstStyle/>
          <a:p>
            <a:fld id="{2143528D-76FF-4CB8-A07D-DC54197119BF}" type="slidenum">
              <a:rPr lang="en-GB" smtClean="0"/>
              <a:t>‹#›</a:t>
            </a:fld>
            <a:endParaRPr lang="en-GB"/>
          </a:p>
        </p:txBody>
      </p:sp>
    </p:spTree>
    <p:extLst>
      <p:ext uri="{BB962C8B-B14F-4D97-AF65-F5344CB8AC3E}">
        <p14:creationId xmlns:p14="http://schemas.microsoft.com/office/powerpoint/2010/main" val="42124678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3"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5" y="3129280"/>
            <a:ext cx="34010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8E1984FD-C22D-418B-B36D-AEE71E30C59F}" type="datetimeFigureOut">
              <a:rPr lang="en-GB" smtClean="0"/>
              <a:t>25/03/2025</a:t>
            </a:fld>
            <a:endParaRPr lang="en-GB"/>
          </a:p>
        </p:txBody>
      </p:sp>
      <p:sp>
        <p:nvSpPr>
          <p:cNvPr id="5" name="Footer Placeholder 5"/>
          <p:cNvSpPr>
            <a:spLocks noGrp="1"/>
          </p:cNvSpPr>
          <p:nvPr>
            <p:ph type="ftr" sz="quarter" idx="11"/>
          </p:nvPr>
        </p:nvSpPr>
        <p:spPr/>
        <p:txBody>
          <a:bodyPr/>
          <a:lstStyle/>
          <a:p>
            <a:endParaRPr lang="en-GB"/>
          </a:p>
        </p:txBody>
      </p:sp>
      <p:sp>
        <p:nvSpPr>
          <p:cNvPr id="6" name="Slide Number Placeholder 6"/>
          <p:cNvSpPr>
            <a:spLocks noGrp="1"/>
          </p:cNvSpPr>
          <p:nvPr>
            <p:ph type="sldNum" sz="quarter" idx="12"/>
          </p:nvPr>
        </p:nvSpPr>
        <p:spPr/>
        <p:txBody>
          <a:bodyPr/>
          <a:lstStyle/>
          <a:p>
            <a:fld id="{2143528D-76FF-4CB8-A07D-DC54197119BF}" type="slidenum">
              <a:rPr lang="en-GB" smtClean="0"/>
              <a:t>‹#›</a:t>
            </a:fld>
            <a:endParaRPr lang="en-GB"/>
          </a:p>
        </p:txBody>
      </p:sp>
    </p:spTree>
    <p:extLst>
      <p:ext uri="{BB962C8B-B14F-4D97-AF65-F5344CB8AC3E}">
        <p14:creationId xmlns:p14="http://schemas.microsoft.com/office/powerpoint/2010/main" val="3343126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1984FD-C22D-418B-B36D-AEE71E30C59F}" type="datetimeFigureOut">
              <a:rPr lang="en-GB" smtClean="0"/>
              <a:t>25/03/2025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143528D-76FF-4CB8-A07D-DC54197119BF}" type="slidenum">
              <a:rPr lang="en-GB" smtClean="0"/>
              <a:t>‹#›</a:t>
            </a:fld>
            <a:endParaRPr lang="en-GB"/>
          </a:p>
        </p:txBody>
      </p:sp>
    </p:spTree>
    <p:extLst>
      <p:ext uri="{BB962C8B-B14F-4D97-AF65-F5344CB8AC3E}">
        <p14:creationId xmlns:p14="http://schemas.microsoft.com/office/powerpoint/2010/main" val="19845965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799"/>
            <a:ext cx="8825658" cy="3640667"/>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1984FD-C22D-418B-B36D-AEE71E30C59F}" type="datetimeFigureOut">
              <a:rPr lang="en-GB" smtClean="0"/>
              <a:t>25/03/2025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2143528D-76FF-4CB8-A07D-DC54197119BF}" type="slidenum">
              <a:rPr lang="en-GB" smtClean="0"/>
              <a:t>‹#›</a:t>
            </a:fld>
            <a:endParaRPr lang="en-GB"/>
          </a:p>
        </p:txBody>
      </p:sp>
    </p:spTree>
    <p:extLst>
      <p:ext uri="{BB962C8B-B14F-4D97-AF65-F5344CB8AC3E}">
        <p14:creationId xmlns:p14="http://schemas.microsoft.com/office/powerpoint/2010/main" val="1229923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E1984FD-C22D-418B-B36D-AEE71E30C59F}" type="datetimeFigureOut">
              <a:rPr lang="en-GB" smtClean="0"/>
              <a:t>25/03/2025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143528D-76FF-4CB8-A07D-DC54197119BF}" type="slidenum">
              <a:rPr lang="en-GB" smtClean="0"/>
              <a:t>‹#›</a:t>
            </a:fld>
            <a:endParaRPr lang="en-GB"/>
          </a:p>
        </p:txBody>
      </p:sp>
    </p:spTree>
    <p:extLst>
      <p:ext uri="{BB962C8B-B14F-4D97-AF65-F5344CB8AC3E}">
        <p14:creationId xmlns:p14="http://schemas.microsoft.com/office/powerpoint/2010/main" val="2821547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0" y="1447800"/>
            <a:ext cx="7999315" cy="2323374"/>
          </a:xfrm>
        </p:spPr>
        <p:txBody>
          <a:bodyPr/>
          <a:lstStyle>
            <a:lvl1pPr>
              <a:defRPr sz="4800"/>
            </a:lvl1pPr>
          </a:lstStyle>
          <a:p>
            <a:r>
              <a:rPr lang="en-US"/>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lumMod val="60000"/>
                    <a:lumOff val="4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8E1984FD-C22D-418B-B36D-AEE71E30C59F}" type="datetimeFigureOut">
              <a:rPr lang="en-GB" smtClean="0"/>
              <a:t>25/03/2025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143528D-76FF-4CB8-A07D-DC54197119BF}" type="slidenum">
              <a:rPr lang="en-GB" smtClean="0"/>
              <a:t>‹#›</a:t>
            </a:fld>
            <a:endParaRPr lang="en-GB"/>
          </a:p>
        </p:txBody>
      </p:sp>
      <p:sp>
        <p:nvSpPr>
          <p:cNvPr id="12" name="TextBox 11"/>
          <p:cNvSpPr txBox="1"/>
          <p:nvPr/>
        </p:nvSpPr>
        <p:spPr>
          <a:xfrm>
            <a:off x="898295" y="971253"/>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
        <p:nvSpPr>
          <p:cNvPr id="11" name="TextBox 10"/>
          <p:cNvSpPr txBox="1"/>
          <p:nvPr/>
        </p:nvSpPr>
        <p:spPr>
          <a:xfrm>
            <a:off x="9330490" y="2613787"/>
            <a:ext cx="801912" cy="1969770"/>
          </a:xfrm>
          <a:prstGeom prst="rect">
            <a:avLst/>
          </a:prstGeom>
          <a:noFill/>
        </p:spPr>
        <p:txBody>
          <a:bodyPr wrap="square" rtlCol="0">
            <a:spAutoFit/>
          </a:bodyPr>
          <a:lstStyle/>
          <a:p>
            <a:pPr algn="r"/>
            <a:r>
              <a:rPr lang="en-US" sz="12200" b="0" i="0" dirty="0">
                <a:solidFill>
                  <a:schemeClr val="accent1">
                    <a:lumMod val="60000"/>
                    <a:lumOff val="40000"/>
                  </a:schemeClr>
                </a:solidFill>
                <a:latin typeface="Arial"/>
                <a:ea typeface="+mj-ea"/>
                <a:cs typeface="+mj-cs"/>
              </a:rPr>
              <a:t>”</a:t>
            </a:r>
          </a:p>
        </p:txBody>
      </p:sp>
    </p:spTree>
    <p:extLst>
      <p:ext uri="{BB962C8B-B14F-4D97-AF65-F5344CB8AC3E}">
        <p14:creationId xmlns:p14="http://schemas.microsoft.com/office/powerpoint/2010/main" val="24352702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5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E1984FD-C22D-418B-B36D-AEE71E30C59F}" type="datetimeFigureOut">
              <a:rPr lang="en-GB" smtClean="0"/>
              <a:t>25/03/2025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143528D-76FF-4CB8-A07D-DC54197119BF}" type="slidenum">
              <a:rPr lang="en-GB" smtClean="0"/>
              <a:t>‹#›</a:t>
            </a:fld>
            <a:endParaRPr lang="en-GB"/>
          </a:p>
        </p:txBody>
      </p:sp>
    </p:spTree>
    <p:extLst>
      <p:ext uri="{BB962C8B-B14F-4D97-AF65-F5344CB8AC3E}">
        <p14:creationId xmlns:p14="http://schemas.microsoft.com/office/powerpoint/2010/main" val="7172501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E1984FD-C22D-418B-B36D-AEE71E30C59F}" type="datetimeFigureOut">
              <a:rPr lang="en-GB" smtClean="0"/>
              <a:t>25/03/2025</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143528D-76FF-4CB8-A07D-DC54197119BF}" type="slidenum">
              <a:rPr lang="en-GB" smtClean="0"/>
              <a:t>‹#›</a:t>
            </a:fld>
            <a:endParaRPr lang="en-GB"/>
          </a:p>
        </p:txBody>
      </p:sp>
    </p:spTree>
    <p:extLst>
      <p:ext uri="{BB962C8B-B14F-4D97-AF65-F5344CB8AC3E}">
        <p14:creationId xmlns:p14="http://schemas.microsoft.com/office/powerpoint/2010/main" val="24210214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8E1984FD-C22D-418B-B36D-AEE71E30C59F}" type="datetimeFigureOut">
              <a:rPr lang="en-GB" smtClean="0"/>
              <a:t>25/03/2025</a:t>
            </a:fld>
            <a:endParaRPr lang="en-GB"/>
          </a:p>
        </p:txBody>
      </p:sp>
      <p:sp>
        <p:nvSpPr>
          <p:cNvPr id="4"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143528D-76FF-4CB8-A07D-DC54197119BF}" type="slidenum">
              <a:rPr lang="en-GB" smtClean="0"/>
              <a:t>‹#›</a:t>
            </a:fld>
            <a:endParaRPr lang="en-GB"/>
          </a:p>
        </p:txBody>
      </p:sp>
    </p:spTree>
    <p:extLst>
      <p:ext uri="{BB962C8B-B14F-4D97-AF65-F5344CB8AC3E}">
        <p14:creationId xmlns:p14="http://schemas.microsoft.com/office/powerpoint/2010/main" val="10259045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1984FD-C22D-418B-B36D-AEE71E30C59F}" type="datetimeFigureOut">
              <a:rPr lang="en-GB" smtClean="0"/>
              <a:t>25/03/2025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143528D-76FF-4CB8-A07D-DC54197119BF}" type="slidenum">
              <a:rPr lang="en-GB" smtClean="0"/>
              <a:t>‹#›</a:t>
            </a:fld>
            <a:endParaRPr lang="en-GB"/>
          </a:p>
        </p:txBody>
      </p:sp>
    </p:spTree>
    <p:extLst>
      <p:ext uri="{BB962C8B-B14F-4D97-AF65-F5344CB8AC3E}">
        <p14:creationId xmlns:p14="http://schemas.microsoft.com/office/powerpoint/2010/main" val="286327764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E1984FD-C22D-418B-B36D-AEE71E30C59F}" type="datetimeFigureOut">
              <a:rPr lang="en-GB" smtClean="0"/>
              <a:t>25/03/2025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2143528D-76FF-4CB8-A07D-DC54197119BF}" type="slidenum">
              <a:rPr lang="en-GB" smtClean="0"/>
              <a:t>‹#›</a:t>
            </a:fld>
            <a:endParaRPr lang="en-GB"/>
          </a:p>
        </p:txBody>
      </p:sp>
    </p:spTree>
    <p:extLst>
      <p:ext uri="{BB962C8B-B14F-4D97-AF65-F5344CB8AC3E}">
        <p14:creationId xmlns:p14="http://schemas.microsoft.com/office/powerpoint/2010/main" val="3096298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44"/>
          <a:stretch/>
        </p:blipFill>
        <p:spPr>
          <a:xfrm>
            <a:off x="0" y="2669685"/>
            <a:ext cx="4035669"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8E1984FD-C22D-418B-B36D-AEE71E30C59F}" type="datetimeFigureOut">
              <a:rPr lang="en-GB" smtClean="0"/>
              <a:t>25/03/2025</a:t>
            </a:fld>
            <a:endParaRPr lang="en-GB"/>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GB"/>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2143528D-76FF-4CB8-A07D-DC54197119BF}" type="slidenum">
              <a:rPr lang="en-GB" smtClean="0"/>
              <a:t>‹#›</a:t>
            </a:fld>
            <a:endParaRPr lang="en-GB"/>
          </a:p>
        </p:txBody>
      </p:sp>
    </p:spTree>
    <p:extLst>
      <p:ext uri="{BB962C8B-B14F-4D97-AF65-F5344CB8AC3E}">
        <p14:creationId xmlns:p14="http://schemas.microsoft.com/office/powerpoint/2010/main" val="1777591593"/>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lumMod val="60000"/>
            <a:lumOff val="4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https://www.imnovation-hub.com/science-and-technology/smart-contact-lenses/"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16D2AC-D595-BAEC-3636-314E8DD7E635}"/>
              </a:ext>
            </a:extLst>
          </p:cNvPr>
          <p:cNvSpPr>
            <a:spLocks noGrp="1"/>
          </p:cNvSpPr>
          <p:nvPr>
            <p:ph type="ctrTitle"/>
          </p:nvPr>
        </p:nvSpPr>
        <p:spPr>
          <a:xfrm>
            <a:off x="1154955" y="1818564"/>
            <a:ext cx="8825658" cy="2098343"/>
          </a:xfrm>
        </p:spPr>
        <p:txBody>
          <a:bodyPr/>
          <a:lstStyle/>
          <a:p>
            <a:br>
              <a:rPr lang="en-US" sz="4400" dirty="0"/>
            </a:br>
            <a:r>
              <a:rPr lang="en-US" sz="4400" dirty="0"/>
              <a:t>SMART CONTACT LENSES WITH EMBEDDED DISPLAY</a:t>
            </a:r>
            <a:endParaRPr lang="en-GB" sz="4400" dirty="0"/>
          </a:p>
        </p:txBody>
      </p:sp>
      <p:sp>
        <p:nvSpPr>
          <p:cNvPr id="3" name="Subtitle 2">
            <a:extLst>
              <a:ext uri="{FF2B5EF4-FFF2-40B4-BE49-F238E27FC236}">
                <a16:creationId xmlns:a16="http://schemas.microsoft.com/office/drawing/2014/main" id="{2B445562-BC79-23E9-3F95-BB2D6DB1A2AA}"/>
              </a:ext>
            </a:extLst>
          </p:cNvPr>
          <p:cNvSpPr>
            <a:spLocks noGrp="1"/>
          </p:cNvSpPr>
          <p:nvPr>
            <p:ph type="subTitle" idx="1"/>
          </p:nvPr>
        </p:nvSpPr>
        <p:spPr>
          <a:xfrm>
            <a:off x="1154955" y="4290419"/>
            <a:ext cx="8825658" cy="1348381"/>
          </a:xfrm>
        </p:spPr>
        <p:txBody>
          <a:bodyPr>
            <a:normAutofit fontScale="85000" lnSpcReduction="20000"/>
          </a:bodyPr>
          <a:lstStyle/>
          <a:p>
            <a:r>
              <a:rPr lang="en-GB" dirty="0"/>
              <a:t>By: FAVOUR OREOLUWA OJO</a:t>
            </a:r>
          </a:p>
          <a:p>
            <a:r>
              <a:rPr lang="en-GB" dirty="0"/>
              <a:t>2201110004</a:t>
            </a:r>
          </a:p>
          <a:p>
            <a:r>
              <a:rPr lang="en-GB" dirty="0"/>
              <a:t>Computer science</a:t>
            </a:r>
          </a:p>
          <a:p>
            <a:r>
              <a:rPr lang="en-GB" dirty="0"/>
              <a:t>Csc 427</a:t>
            </a:r>
          </a:p>
        </p:txBody>
      </p:sp>
      <p:pic>
        <p:nvPicPr>
          <p:cNvPr id="5" name="Picture 4">
            <a:extLst>
              <a:ext uri="{FF2B5EF4-FFF2-40B4-BE49-F238E27FC236}">
                <a16:creationId xmlns:a16="http://schemas.microsoft.com/office/drawing/2014/main" id="{5F1342E1-699C-701A-768D-913410C7B8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2105930" cy="11400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9039130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D20F3-3666-868B-DB03-A3FAC300DA56}"/>
              </a:ext>
            </a:extLst>
          </p:cNvPr>
          <p:cNvSpPr>
            <a:spLocks noGrp="1"/>
          </p:cNvSpPr>
          <p:nvPr>
            <p:ph type="title"/>
          </p:nvPr>
        </p:nvSpPr>
        <p:spPr/>
        <p:txBody>
          <a:bodyPr/>
          <a:lstStyle/>
          <a:p>
            <a:r>
              <a:rPr lang="en-US" dirty="0"/>
              <a:t>What is Wearable and Ubiquitous Computing?</a:t>
            </a:r>
            <a:endParaRPr lang="en-GB" dirty="0"/>
          </a:p>
        </p:txBody>
      </p:sp>
      <p:sp>
        <p:nvSpPr>
          <p:cNvPr id="3" name="Content Placeholder 2">
            <a:extLst>
              <a:ext uri="{FF2B5EF4-FFF2-40B4-BE49-F238E27FC236}">
                <a16:creationId xmlns:a16="http://schemas.microsoft.com/office/drawing/2014/main" id="{7F295A3F-51AF-A008-FA7D-5CA40B3A1E87}"/>
              </a:ext>
            </a:extLst>
          </p:cNvPr>
          <p:cNvSpPr>
            <a:spLocks noGrp="1"/>
          </p:cNvSpPr>
          <p:nvPr>
            <p:ph idx="1"/>
          </p:nvPr>
        </p:nvSpPr>
        <p:spPr/>
        <p:txBody>
          <a:bodyPr/>
          <a:lstStyle/>
          <a:p>
            <a:pPr marL="0" indent="0">
              <a:buNone/>
            </a:pPr>
            <a:r>
              <a:rPr lang="en-US" dirty="0"/>
              <a:t>Wearable computing refers to the use of small electronic devices that are worn on the body to process information. The goal is to make the computer and the user work together seamlessly. Examples are smartwatches, fitness tracker, AR glasses, etc.</a:t>
            </a:r>
          </a:p>
          <a:p>
            <a:pPr marL="0" indent="0">
              <a:buNone/>
            </a:pPr>
            <a:endParaRPr lang="en-GB" dirty="0"/>
          </a:p>
          <a:p>
            <a:pPr marL="0" indent="0">
              <a:buNone/>
            </a:pPr>
            <a:r>
              <a:rPr lang="en-US" dirty="0"/>
              <a:t>Ubiquitous computing is the idea of integrating computers into everyday objects and environments. It's also known as pervasive computing. Examples are smart homes, IoT devices, etc.</a:t>
            </a:r>
          </a:p>
          <a:p>
            <a:pPr marL="0" indent="0">
              <a:buNone/>
            </a:pPr>
            <a:r>
              <a:rPr lang="en-US" dirty="0"/>
              <a:t>Smart Contact lenses Combines both concepts – wearable (on the eye) and ubiquitous (always on, always connected)</a:t>
            </a:r>
            <a:endParaRPr lang="en-GB" dirty="0"/>
          </a:p>
        </p:txBody>
      </p:sp>
    </p:spTree>
    <p:extLst>
      <p:ext uri="{BB962C8B-B14F-4D97-AF65-F5344CB8AC3E}">
        <p14:creationId xmlns:p14="http://schemas.microsoft.com/office/powerpoint/2010/main" val="38168183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31D3A-7EC6-56D8-68E2-175556EC6CEB}"/>
              </a:ext>
            </a:extLst>
          </p:cNvPr>
          <p:cNvSpPr>
            <a:spLocks noGrp="1"/>
          </p:cNvSpPr>
          <p:nvPr>
            <p:ph type="title"/>
          </p:nvPr>
        </p:nvSpPr>
        <p:spPr>
          <a:xfrm>
            <a:off x="646111" y="452718"/>
            <a:ext cx="9404723" cy="1075831"/>
          </a:xfrm>
        </p:spPr>
        <p:txBody>
          <a:bodyPr/>
          <a:lstStyle/>
          <a:p>
            <a:r>
              <a:rPr lang="en-US" sz="3500" dirty="0"/>
              <a:t>The Evolution of Smart Contact Lenses</a:t>
            </a:r>
            <a:br>
              <a:rPr lang="en-US" dirty="0"/>
            </a:br>
            <a:r>
              <a:rPr lang="en-US" sz="2000" b="1" dirty="0"/>
              <a:t>From Concept to Cutting-Edge</a:t>
            </a:r>
            <a:br>
              <a:rPr lang="en-GB" sz="2000" b="1" dirty="0"/>
            </a:br>
            <a:br>
              <a:rPr lang="en-US" dirty="0"/>
            </a:br>
            <a:endParaRPr lang="en-GB" dirty="0"/>
          </a:p>
        </p:txBody>
      </p:sp>
      <p:sp>
        <p:nvSpPr>
          <p:cNvPr id="3" name="Content Placeholder 2">
            <a:extLst>
              <a:ext uri="{FF2B5EF4-FFF2-40B4-BE49-F238E27FC236}">
                <a16:creationId xmlns:a16="http://schemas.microsoft.com/office/drawing/2014/main" id="{2CDABD0F-41E4-6407-F069-5EFC9F844D2B}"/>
              </a:ext>
            </a:extLst>
          </p:cNvPr>
          <p:cNvSpPr>
            <a:spLocks noGrp="1"/>
          </p:cNvSpPr>
          <p:nvPr>
            <p:ph idx="1"/>
          </p:nvPr>
        </p:nvSpPr>
        <p:spPr>
          <a:xfrm>
            <a:off x="646111" y="1528549"/>
            <a:ext cx="8946541" cy="4876733"/>
          </a:xfrm>
        </p:spPr>
        <p:txBody>
          <a:bodyPr>
            <a:normAutofit/>
          </a:bodyPr>
          <a:lstStyle/>
          <a:p>
            <a:pPr marL="0" indent="0">
              <a:buNone/>
            </a:pPr>
            <a:r>
              <a:rPr lang="en-GB" dirty="0"/>
              <a:t>2003 – Earliest smart contact lens developed by M. Leonardi et al. The focus was on basic electronics integration.</a:t>
            </a:r>
          </a:p>
          <a:p>
            <a:pPr marL="0" indent="0">
              <a:buNone/>
            </a:pPr>
            <a:endParaRPr lang="en-US" dirty="0"/>
          </a:p>
          <a:p>
            <a:pPr marL="0" indent="0">
              <a:buNone/>
            </a:pPr>
            <a:r>
              <a:rPr lang="en-US" dirty="0"/>
              <a:t>In 2009, intraocular pressure (IOP) monitoring lenses were introduced for the management of glaucoma.</a:t>
            </a:r>
          </a:p>
          <a:p>
            <a:pPr marL="0" indent="0">
              <a:buNone/>
            </a:pPr>
            <a:endParaRPr lang="en-US" dirty="0"/>
          </a:p>
          <a:p>
            <a:pPr marL="0" indent="0">
              <a:buNone/>
            </a:pPr>
            <a:r>
              <a:rPr lang="en-US" dirty="0"/>
              <a:t>The year 2010 saw the development of a smart contact lens capable of energy harvesting, where an integrated antenna successfully powered a single LED.</a:t>
            </a:r>
          </a:p>
          <a:p>
            <a:pPr marL="0" indent="0">
              <a:buNone/>
            </a:pPr>
            <a:endParaRPr lang="en-US" dirty="0"/>
          </a:p>
          <a:p>
            <a:pPr marL="0" indent="0">
              <a:buNone/>
            </a:pPr>
            <a:r>
              <a:rPr lang="en-US" dirty="0"/>
              <a:t>In 2011, a glucose monitoring lens was developed, offering a potential advancement in diabetes management.</a:t>
            </a:r>
            <a:endParaRPr lang="en-GB" dirty="0"/>
          </a:p>
        </p:txBody>
      </p:sp>
    </p:spTree>
    <p:extLst>
      <p:ext uri="{BB962C8B-B14F-4D97-AF65-F5344CB8AC3E}">
        <p14:creationId xmlns:p14="http://schemas.microsoft.com/office/powerpoint/2010/main" val="3741744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A2A119-7214-3F06-C4BE-484DF69B3775}"/>
              </a:ext>
            </a:extLst>
          </p:cNvPr>
          <p:cNvSpPr>
            <a:spLocks noGrp="1"/>
          </p:cNvSpPr>
          <p:nvPr>
            <p:ph idx="1"/>
          </p:nvPr>
        </p:nvSpPr>
        <p:spPr>
          <a:xfrm>
            <a:off x="272956" y="2052918"/>
            <a:ext cx="9776898" cy="4195481"/>
          </a:xfrm>
        </p:spPr>
        <p:txBody>
          <a:bodyPr/>
          <a:lstStyle/>
          <a:p>
            <a:pPr marL="0" indent="0">
              <a:buNone/>
            </a:pPr>
            <a:r>
              <a:rPr lang="en-US" dirty="0"/>
              <a:t>Between 2014 and 2017, Google pursued the development of glucose-monitoring smart contact lenses with the aim of commercialization, but the project was eventually discontinued due to challenges in accurately measuring glucose levels from tear fluid.</a:t>
            </a:r>
          </a:p>
          <a:p>
            <a:pPr marL="0" indent="0">
              <a:buNone/>
            </a:pPr>
            <a:endParaRPr lang="en-US" dirty="0"/>
          </a:p>
          <a:p>
            <a:pPr marL="0" indent="0">
              <a:buNone/>
            </a:pPr>
            <a:r>
              <a:rPr lang="en-US" dirty="0"/>
              <a:t>2018 – SENSIMED Triggerfish introduced as a market-ready IOP-sensing contact lens for ongoing glaucoma monitoring.</a:t>
            </a:r>
          </a:p>
          <a:p>
            <a:pPr marL="0" indent="0">
              <a:buNone/>
            </a:pPr>
            <a:endParaRPr lang="en-US" dirty="0"/>
          </a:p>
          <a:p>
            <a:pPr marL="0" indent="0">
              <a:buNone/>
            </a:pPr>
            <a:r>
              <a:rPr lang="en-US" dirty="0"/>
              <a:t>In 2020, an artificial iris design was introduced, utilizing a liquid crystal-based contact lens to provide adjustable transparency for vision correction and light sensitivity management.</a:t>
            </a:r>
            <a:endParaRPr lang="en-GB" dirty="0"/>
          </a:p>
        </p:txBody>
      </p:sp>
      <p:sp>
        <p:nvSpPr>
          <p:cNvPr id="4" name="Title 1">
            <a:extLst>
              <a:ext uri="{FF2B5EF4-FFF2-40B4-BE49-F238E27FC236}">
                <a16:creationId xmlns:a16="http://schemas.microsoft.com/office/drawing/2014/main" id="{B075DE9E-64E4-F38A-EBB2-CFED50870AB6}"/>
              </a:ext>
            </a:extLst>
          </p:cNvPr>
          <p:cNvSpPr txBox="1">
            <a:spLocks/>
          </p:cNvSpPr>
          <p:nvPr/>
        </p:nvSpPr>
        <p:spPr>
          <a:xfrm>
            <a:off x="645130" y="373106"/>
            <a:ext cx="9404723" cy="1400530"/>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800" dirty="0"/>
              <a:t>The Evolution of Smart Contact Lenses(CONTINUATION)</a:t>
            </a:r>
            <a:br>
              <a:rPr lang="en-GB" sz="2000" b="1" dirty="0"/>
            </a:br>
            <a:br>
              <a:rPr lang="en-US" dirty="0"/>
            </a:br>
            <a:endParaRPr lang="en-GB" dirty="0"/>
          </a:p>
        </p:txBody>
      </p:sp>
    </p:spTree>
    <p:extLst>
      <p:ext uri="{BB962C8B-B14F-4D97-AF65-F5344CB8AC3E}">
        <p14:creationId xmlns:p14="http://schemas.microsoft.com/office/powerpoint/2010/main" val="713322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C68E8EC0-B664-BE11-1DA6-764776E3D3C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14454" y="1672062"/>
            <a:ext cx="11419035" cy="4141884"/>
          </a:xfrm>
        </p:spPr>
      </p:pic>
      <p:sp>
        <p:nvSpPr>
          <p:cNvPr id="4" name="Title 1">
            <a:extLst>
              <a:ext uri="{FF2B5EF4-FFF2-40B4-BE49-F238E27FC236}">
                <a16:creationId xmlns:a16="http://schemas.microsoft.com/office/drawing/2014/main" id="{3027376D-3ACD-9CAC-632D-EDDD0AABB7E9}"/>
              </a:ext>
            </a:extLst>
          </p:cNvPr>
          <p:cNvSpPr txBox="1">
            <a:spLocks/>
          </p:cNvSpPr>
          <p:nvPr/>
        </p:nvSpPr>
        <p:spPr>
          <a:xfrm>
            <a:off x="645130" y="373106"/>
            <a:ext cx="9404723" cy="1400530"/>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800" dirty="0"/>
              <a:t>The Evolution of Smart Contact Lenses(CONTINUATION)</a:t>
            </a:r>
            <a:br>
              <a:rPr lang="en-GB" sz="2000" b="1" dirty="0"/>
            </a:br>
            <a:br>
              <a:rPr lang="en-US" dirty="0"/>
            </a:br>
            <a:endParaRPr lang="en-GB" dirty="0"/>
          </a:p>
        </p:txBody>
      </p:sp>
    </p:spTree>
    <p:extLst>
      <p:ext uri="{BB962C8B-B14F-4D97-AF65-F5344CB8AC3E}">
        <p14:creationId xmlns:p14="http://schemas.microsoft.com/office/powerpoint/2010/main" val="17833952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E92B2-31A7-86BC-0C5C-82A429BAC988}"/>
              </a:ext>
            </a:extLst>
          </p:cNvPr>
          <p:cNvSpPr>
            <a:spLocks noGrp="1"/>
          </p:cNvSpPr>
          <p:nvPr>
            <p:ph type="title"/>
          </p:nvPr>
        </p:nvSpPr>
        <p:spPr>
          <a:xfrm>
            <a:off x="646111" y="452718"/>
            <a:ext cx="9404723" cy="734637"/>
          </a:xfrm>
        </p:spPr>
        <p:txBody>
          <a:bodyPr/>
          <a:lstStyle/>
          <a:p>
            <a:r>
              <a:rPr lang="en-GB" sz="3500" dirty="0"/>
              <a:t>HOW DO SMART CONTACT LENSES WORK?</a:t>
            </a:r>
          </a:p>
        </p:txBody>
      </p:sp>
      <p:sp>
        <p:nvSpPr>
          <p:cNvPr id="3" name="Content Placeholder 2">
            <a:extLst>
              <a:ext uri="{FF2B5EF4-FFF2-40B4-BE49-F238E27FC236}">
                <a16:creationId xmlns:a16="http://schemas.microsoft.com/office/drawing/2014/main" id="{0D013903-63BC-7B76-2C5A-B2AE02C6BACD}"/>
              </a:ext>
            </a:extLst>
          </p:cNvPr>
          <p:cNvSpPr>
            <a:spLocks noGrp="1"/>
          </p:cNvSpPr>
          <p:nvPr>
            <p:ph idx="1"/>
          </p:nvPr>
        </p:nvSpPr>
        <p:spPr>
          <a:xfrm>
            <a:off x="1103312" y="1187356"/>
            <a:ext cx="8946541" cy="5061044"/>
          </a:xfrm>
        </p:spPr>
        <p:txBody>
          <a:bodyPr>
            <a:normAutofit/>
          </a:bodyPr>
          <a:lstStyle/>
          <a:p>
            <a:pPr marL="0" indent="0">
              <a:lnSpc>
                <a:spcPct val="160000"/>
              </a:lnSpc>
              <a:buNone/>
            </a:pPr>
            <a:r>
              <a:rPr lang="en-US" dirty="0"/>
              <a:t>Smart contact lenses utilize a combination of advanced technologies to enhance or augment human vision and provide health monitoring capabilities. Embedded micro-displays project visual information, such as augmented reality overlays, directly onto the wearer's field of view.  Sensors within the lens gather physiological data, like glucose levels or intraocular pressure, for health monitoring purposes. </a:t>
            </a:r>
            <a:endParaRPr lang="en-GB" dirty="0"/>
          </a:p>
        </p:txBody>
      </p:sp>
    </p:spTree>
    <p:extLst>
      <p:ext uri="{BB962C8B-B14F-4D97-AF65-F5344CB8AC3E}">
        <p14:creationId xmlns:p14="http://schemas.microsoft.com/office/powerpoint/2010/main" val="2238709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7BA390-8B9A-48AF-3A5F-F9F43B1A70C6}"/>
              </a:ext>
            </a:extLst>
          </p:cNvPr>
          <p:cNvSpPr>
            <a:spLocks noGrp="1"/>
          </p:cNvSpPr>
          <p:nvPr>
            <p:ph type="title"/>
          </p:nvPr>
        </p:nvSpPr>
        <p:spPr/>
        <p:txBody>
          <a:bodyPr/>
          <a:lstStyle/>
          <a:p>
            <a:r>
              <a:rPr lang="en-GB" dirty="0"/>
              <a:t>CONTINUATION</a:t>
            </a:r>
          </a:p>
        </p:txBody>
      </p:sp>
      <p:sp>
        <p:nvSpPr>
          <p:cNvPr id="3" name="Content Placeholder 2">
            <a:extLst>
              <a:ext uri="{FF2B5EF4-FFF2-40B4-BE49-F238E27FC236}">
                <a16:creationId xmlns:a16="http://schemas.microsoft.com/office/drawing/2014/main" id="{920B653E-FEC0-DA06-AA28-465C705E66F4}"/>
              </a:ext>
            </a:extLst>
          </p:cNvPr>
          <p:cNvSpPr>
            <a:spLocks noGrp="1"/>
          </p:cNvSpPr>
          <p:nvPr>
            <p:ph idx="1"/>
          </p:nvPr>
        </p:nvSpPr>
        <p:spPr/>
        <p:txBody>
          <a:bodyPr/>
          <a:lstStyle/>
          <a:p>
            <a:pPr marL="0" indent="0">
              <a:lnSpc>
                <a:spcPct val="150000"/>
              </a:lnSpc>
              <a:buNone/>
            </a:pPr>
            <a:r>
              <a:rPr lang="en-US" dirty="0"/>
              <a:t>Wireless communication technologies, such as Bluetooth or NFC, enable the transfer of this data to external devices for analysis and tracking. Powering these functionalities are innovative solutions like bio-batteries or energy harvesting systems that utilize antennas to capture RF energy.  Critically, these lenses are crafted from biocompatible materials to ensure safety and comfort for the wearer.</a:t>
            </a:r>
            <a:endParaRPr lang="en-GB" dirty="0"/>
          </a:p>
        </p:txBody>
      </p:sp>
    </p:spTree>
    <p:extLst>
      <p:ext uri="{BB962C8B-B14F-4D97-AF65-F5344CB8AC3E}">
        <p14:creationId xmlns:p14="http://schemas.microsoft.com/office/powerpoint/2010/main" val="42796724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0EFE8-A7F5-424A-F627-00EDD2A8CD4C}"/>
              </a:ext>
            </a:extLst>
          </p:cNvPr>
          <p:cNvSpPr>
            <a:spLocks noGrp="1"/>
          </p:cNvSpPr>
          <p:nvPr>
            <p:ph type="title"/>
          </p:nvPr>
        </p:nvSpPr>
        <p:spPr/>
        <p:txBody>
          <a:bodyPr/>
          <a:lstStyle/>
          <a:p>
            <a:r>
              <a:rPr lang="en-GB" sz="3500" dirty="0"/>
              <a:t>Applications of Smart Contact Lenses</a:t>
            </a:r>
            <a:br>
              <a:rPr lang="en-GB" sz="3500" dirty="0"/>
            </a:br>
            <a:br>
              <a:rPr lang="en-GB" sz="3500" dirty="0"/>
            </a:br>
            <a:r>
              <a:rPr lang="en-GB" sz="1800" dirty="0"/>
              <a:t>Real-World Use Cases</a:t>
            </a:r>
            <a:br>
              <a:rPr lang="en-GB" sz="3600" dirty="0"/>
            </a:br>
            <a:endParaRPr lang="en-GB" sz="3500" dirty="0"/>
          </a:p>
        </p:txBody>
      </p:sp>
      <p:sp>
        <p:nvSpPr>
          <p:cNvPr id="3" name="Content Placeholder 2">
            <a:extLst>
              <a:ext uri="{FF2B5EF4-FFF2-40B4-BE49-F238E27FC236}">
                <a16:creationId xmlns:a16="http://schemas.microsoft.com/office/drawing/2014/main" id="{44920F42-BF83-700B-9998-0FD3BC76569E}"/>
              </a:ext>
            </a:extLst>
          </p:cNvPr>
          <p:cNvSpPr>
            <a:spLocks noGrp="1"/>
          </p:cNvSpPr>
          <p:nvPr>
            <p:ph idx="1"/>
          </p:nvPr>
        </p:nvSpPr>
        <p:spPr/>
        <p:txBody>
          <a:bodyPr>
            <a:noAutofit/>
          </a:bodyPr>
          <a:lstStyle/>
          <a:p>
            <a:pPr marL="0" indent="0">
              <a:buNone/>
            </a:pPr>
            <a:r>
              <a:rPr lang="en-GB" sz="1200" dirty="0"/>
              <a:t> </a:t>
            </a:r>
          </a:p>
          <a:p>
            <a:r>
              <a:rPr lang="en-GB" sz="1800" dirty="0"/>
              <a:t>Healthcare: Used in glucose monitoring for diabetics and Intraocular pressure tracking for glaucoma patients. Also in the the dry eye treatment and vision correction.</a:t>
            </a:r>
          </a:p>
          <a:p>
            <a:endParaRPr lang="en-GB" sz="1200" dirty="0"/>
          </a:p>
          <a:p>
            <a:r>
              <a:rPr lang="en-GB" sz="1800" dirty="0"/>
              <a:t>Augmented Reality: Navigation (e.g., directions overlaid on real-world view). Gaming and entertainment (e.g., immersive experiences). Professional training (e.g., real-time data for surgeons).</a:t>
            </a:r>
          </a:p>
          <a:p>
            <a:pPr marL="0" indent="0">
              <a:buNone/>
            </a:pPr>
            <a:endParaRPr lang="en-GB" sz="1800" dirty="0"/>
          </a:p>
          <a:p>
            <a:r>
              <a:rPr lang="en-GB" sz="1800" dirty="0"/>
              <a:t>Communication: Notifications (e.g., texts, emails). Real-time language translation. Gaze tracking for hands-free control.</a:t>
            </a:r>
          </a:p>
        </p:txBody>
      </p:sp>
    </p:spTree>
    <p:extLst>
      <p:ext uri="{BB962C8B-B14F-4D97-AF65-F5344CB8AC3E}">
        <p14:creationId xmlns:p14="http://schemas.microsoft.com/office/powerpoint/2010/main" val="11497117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4679C-FF43-8FFE-D5D4-D7BAFD3645BF}"/>
              </a:ext>
            </a:extLst>
          </p:cNvPr>
          <p:cNvSpPr>
            <a:spLocks noGrp="1"/>
          </p:cNvSpPr>
          <p:nvPr>
            <p:ph type="title"/>
          </p:nvPr>
        </p:nvSpPr>
        <p:spPr>
          <a:xfrm>
            <a:off x="646111" y="452718"/>
            <a:ext cx="9404723" cy="912058"/>
          </a:xfrm>
        </p:spPr>
        <p:txBody>
          <a:bodyPr/>
          <a:lstStyle/>
          <a:p>
            <a:r>
              <a:rPr lang="en-GB" sz="3500" dirty="0"/>
              <a:t>CHALLENGES AND LIMITATIONS</a:t>
            </a:r>
          </a:p>
        </p:txBody>
      </p:sp>
      <p:sp>
        <p:nvSpPr>
          <p:cNvPr id="3" name="Content Placeholder 2">
            <a:extLst>
              <a:ext uri="{FF2B5EF4-FFF2-40B4-BE49-F238E27FC236}">
                <a16:creationId xmlns:a16="http://schemas.microsoft.com/office/drawing/2014/main" id="{BC642532-EA55-FDF4-E5F3-78E056CC326A}"/>
              </a:ext>
            </a:extLst>
          </p:cNvPr>
          <p:cNvSpPr>
            <a:spLocks noGrp="1"/>
          </p:cNvSpPr>
          <p:nvPr>
            <p:ph idx="1"/>
          </p:nvPr>
        </p:nvSpPr>
        <p:spPr>
          <a:xfrm>
            <a:off x="1103312" y="1078174"/>
            <a:ext cx="8946541" cy="5540990"/>
          </a:xfrm>
        </p:spPr>
        <p:txBody>
          <a:bodyPr>
            <a:normAutofit lnSpcReduction="10000"/>
          </a:bodyPr>
          <a:lstStyle/>
          <a:p>
            <a:endParaRPr lang="en-US" dirty="0"/>
          </a:p>
          <a:p>
            <a:pPr>
              <a:lnSpc>
                <a:spcPct val="150000"/>
              </a:lnSpc>
            </a:pPr>
            <a:r>
              <a:rPr lang="en-US" dirty="0"/>
              <a:t>Power Management: Ensuring sufficient battery life and power efficiency for continuous use.</a:t>
            </a:r>
          </a:p>
          <a:p>
            <a:pPr>
              <a:lnSpc>
                <a:spcPct val="150000"/>
              </a:lnSpc>
            </a:pPr>
            <a:r>
              <a:rPr lang="en-US" dirty="0"/>
              <a:t>Biocompatibility and Safety: Guaranteeing long-term safety and comfort for users with diverse eye conditions.</a:t>
            </a:r>
          </a:p>
          <a:p>
            <a:pPr>
              <a:lnSpc>
                <a:spcPct val="150000"/>
              </a:lnSpc>
            </a:pPr>
            <a:r>
              <a:rPr lang="en-US" dirty="0"/>
              <a:t>Data Security and Privacy: Addressing concerns related to the collection, storage, and potential misuse of sensitive user data.</a:t>
            </a:r>
          </a:p>
          <a:p>
            <a:pPr>
              <a:lnSpc>
                <a:spcPct val="150000"/>
              </a:lnSpc>
            </a:pPr>
            <a:r>
              <a:rPr lang="en-US" dirty="0"/>
              <a:t>User Acceptance and Comfort: Overcoming potential discomfort or invasiveness associated with wearing smart contact lenses.</a:t>
            </a:r>
          </a:p>
          <a:p>
            <a:pPr>
              <a:lnSpc>
                <a:spcPct val="150000"/>
              </a:lnSpc>
            </a:pPr>
            <a:r>
              <a:rPr lang="en-US" dirty="0"/>
              <a:t>Cost and Accessibility: Making smart contact lenses affordable and accessible to a wider population.</a:t>
            </a:r>
            <a:endParaRPr lang="en-GB" dirty="0"/>
          </a:p>
        </p:txBody>
      </p:sp>
    </p:spTree>
    <p:extLst>
      <p:ext uri="{BB962C8B-B14F-4D97-AF65-F5344CB8AC3E}">
        <p14:creationId xmlns:p14="http://schemas.microsoft.com/office/powerpoint/2010/main" val="4055878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1A2911-7879-4026-DBF2-3475856F9E58}"/>
              </a:ext>
            </a:extLst>
          </p:cNvPr>
          <p:cNvSpPr>
            <a:spLocks noGrp="1"/>
          </p:cNvSpPr>
          <p:nvPr>
            <p:ph type="title"/>
          </p:nvPr>
        </p:nvSpPr>
        <p:spPr>
          <a:xfrm>
            <a:off x="646111" y="452718"/>
            <a:ext cx="9404723" cy="761933"/>
          </a:xfrm>
        </p:spPr>
        <p:txBody>
          <a:bodyPr/>
          <a:lstStyle/>
          <a:p>
            <a:r>
              <a:rPr lang="en-GB" dirty="0"/>
              <a:t>FUTURE OF SMART CONTACT LENSES</a:t>
            </a:r>
          </a:p>
        </p:txBody>
      </p:sp>
      <p:sp>
        <p:nvSpPr>
          <p:cNvPr id="3" name="Content Placeholder 2">
            <a:extLst>
              <a:ext uri="{FF2B5EF4-FFF2-40B4-BE49-F238E27FC236}">
                <a16:creationId xmlns:a16="http://schemas.microsoft.com/office/drawing/2014/main" id="{53C69018-152A-1BF1-6CDF-390D4C67ADC2}"/>
              </a:ext>
            </a:extLst>
          </p:cNvPr>
          <p:cNvSpPr>
            <a:spLocks noGrp="1"/>
          </p:cNvSpPr>
          <p:nvPr>
            <p:ph idx="1"/>
          </p:nvPr>
        </p:nvSpPr>
        <p:spPr>
          <a:xfrm>
            <a:off x="1103312" y="1214652"/>
            <a:ext cx="8946541" cy="5033748"/>
          </a:xfrm>
        </p:spPr>
        <p:txBody>
          <a:bodyPr>
            <a:normAutofit fontScale="92500" lnSpcReduction="20000"/>
          </a:bodyPr>
          <a:lstStyle/>
          <a:p>
            <a:pPr marL="0" indent="0">
              <a:lnSpc>
                <a:spcPct val="150000"/>
              </a:lnSpc>
              <a:buNone/>
            </a:pPr>
            <a:endParaRPr lang="en-US" sz="1800" dirty="0"/>
          </a:p>
          <a:p>
            <a:pPr>
              <a:lnSpc>
                <a:spcPct val="150000"/>
              </a:lnSpc>
            </a:pPr>
            <a:r>
              <a:rPr lang="en-US" sz="1800" dirty="0"/>
              <a:t>Dynamic focus. The lenses will detect whether the wearer is reading a nearby text or looking at an object in the distance and focus automatically.</a:t>
            </a:r>
          </a:p>
          <a:p>
            <a:pPr>
              <a:lnSpc>
                <a:spcPct val="150000"/>
              </a:lnSpc>
            </a:pPr>
            <a:r>
              <a:rPr lang="en-US" sz="1800" dirty="0"/>
              <a:t>Health monitoring; thanks to the measurement of glucose, eye pressure, or eye temperature. In the future, these lenses may even be able to detect tumor markers.</a:t>
            </a:r>
          </a:p>
          <a:p>
            <a:pPr>
              <a:lnSpc>
                <a:spcPct val="150000"/>
              </a:lnSpc>
            </a:pPr>
            <a:r>
              <a:rPr lang="en-US" sz="1800" dirty="0"/>
              <a:t>Augmented and mixed reality. As soon as contact lenses can display complex images and modulate their opacity level, a user will be able to see virtual objects.</a:t>
            </a:r>
          </a:p>
          <a:p>
            <a:pPr>
              <a:lnSpc>
                <a:spcPct val="150000"/>
              </a:lnSpc>
            </a:pPr>
            <a:r>
              <a:rPr lang="en-US" sz="1800" dirty="0"/>
              <a:t>Basic applications such as compasses, map directions, or calendar reminders are now constrained to the cell phone or computer.</a:t>
            </a:r>
          </a:p>
          <a:p>
            <a:pPr>
              <a:lnSpc>
                <a:spcPct val="150000"/>
              </a:lnSpc>
            </a:pPr>
            <a:r>
              <a:rPr lang="en-US" sz="1800" dirty="0"/>
              <a:t>Medication administration for the treatment of diseases such as glaucoma.</a:t>
            </a:r>
            <a:endParaRPr lang="en-GB" sz="1800" dirty="0"/>
          </a:p>
        </p:txBody>
      </p:sp>
    </p:spTree>
    <p:extLst>
      <p:ext uri="{BB962C8B-B14F-4D97-AF65-F5344CB8AC3E}">
        <p14:creationId xmlns:p14="http://schemas.microsoft.com/office/powerpoint/2010/main" val="19267004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FE9597-A190-F144-6EDE-D9379A0ECC9A}"/>
              </a:ext>
            </a:extLst>
          </p:cNvPr>
          <p:cNvSpPr>
            <a:spLocks noGrp="1"/>
          </p:cNvSpPr>
          <p:nvPr>
            <p:ph type="title"/>
          </p:nvPr>
        </p:nvSpPr>
        <p:spPr>
          <a:xfrm>
            <a:off x="646111" y="452718"/>
            <a:ext cx="9404723" cy="843819"/>
          </a:xfrm>
        </p:spPr>
        <p:txBody>
          <a:bodyPr/>
          <a:lstStyle/>
          <a:p>
            <a:r>
              <a:rPr lang="en-GB" dirty="0"/>
              <a:t>CONCLUSION</a:t>
            </a:r>
          </a:p>
        </p:txBody>
      </p:sp>
      <p:sp>
        <p:nvSpPr>
          <p:cNvPr id="3" name="Content Placeholder 2">
            <a:extLst>
              <a:ext uri="{FF2B5EF4-FFF2-40B4-BE49-F238E27FC236}">
                <a16:creationId xmlns:a16="http://schemas.microsoft.com/office/drawing/2014/main" id="{07A378FC-97AC-BDE8-BF87-552724329456}"/>
              </a:ext>
            </a:extLst>
          </p:cNvPr>
          <p:cNvSpPr>
            <a:spLocks noGrp="1"/>
          </p:cNvSpPr>
          <p:nvPr>
            <p:ph idx="1"/>
          </p:nvPr>
        </p:nvSpPr>
        <p:spPr>
          <a:xfrm>
            <a:off x="1103312" y="1296538"/>
            <a:ext cx="8946541" cy="4951862"/>
          </a:xfrm>
        </p:spPr>
        <p:txBody>
          <a:bodyPr/>
          <a:lstStyle/>
          <a:p>
            <a:pPr marL="0" indent="0">
              <a:lnSpc>
                <a:spcPct val="150000"/>
              </a:lnSpc>
              <a:buNone/>
            </a:pPr>
            <a:r>
              <a:rPr lang="en-US" dirty="0"/>
              <a:t>Smart contact lenses are paving the way for the future of wearable and ubiquitous computing, seamlessly blending advanced technology into our daily lives. These lenses are set to revolutionize fields like healthcare, augmented reality, and communication, offering solutions from real-time health monitoring to immersive AR experiences and instant notifications. While there are still hurdles to overcome, the rapid progress in this field is undeniable. As we move forward, smart contact lenses promise to redefine how we see and interact with the world, proving that the future isn’t just in our hands—it’s in our eyes.</a:t>
            </a:r>
            <a:endParaRPr lang="en-GB" dirty="0"/>
          </a:p>
        </p:txBody>
      </p:sp>
    </p:spTree>
    <p:extLst>
      <p:ext uri="{BB962C8B-B14F-4D97-AF65-F5344CB8AC3E}">
        <p14:creationId xmlns:p14="http://schemas.microsoft.com/office/powerpoint/2010/main" val="8667166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683E92-B156-2DDF-1BC0-BD9A59402215}"/>
              </a:ext>
            </a:extLst>
          </p:cNvPr>
          <p:cNvSpPr>
            <a:spLocks noGrp="1"/>
          </p:cNvSpPr>
          <p:nvPr>
            <p:ph type="title"/>
          </p:nvPr>
        </p:nvSpPr>
        <p:spPr/>
        <p:txBody>
          <a:bodyPr/>
          <a:lstStyle/>
          <a:p>
            <a:r>
              <a:rPr lang="en-GB" dirty="0"/>
              <a:t>REFERENCES</a:t>
            </a:r>
          </a:p>
        </p:txBody>
      </p:sp>
      <p:sp>
        <p:nvSpPr>
          <p:cNvPr id="3" name="Content Placeholder 2">
            <a:extLst>
              <a:ext uri="{FF2B5EF4-FFF2-40B4-BE49-F238E27FC236}">
                <a16:creationId xmlns:a16="http://schemas.microsoft.com/office/drawing/2014/main" id="{651985D2-8371-1046-69E1-2FAEDFA02F83}"/>
              </a:ext>
            </a:extLst>
          </p:cNvPr>
          <p:cNvSpPr>
            <a:spLocks noGrp="1"/>
          </p:cNvSpPr>
          <p:nvPr>
            <p:ph idx="1"/>
          </p:nvPr>
        </p:nvSpPr>
        <p:spPr/>
        <p:txBody>
          <a:bodyPr/>
          <a:lstStyle/>
          <a:p>
            <a:r>
              <a:rPr lang="en-US" dirty="0">
                <a:hlinkClick r:id="rId2"/>
              </a:rPr>
              <a:t>https://www.imnovation-hub.com/science-and-technology/smart-contact-lenses/</a:t>
            </a:r>
            <a:endParaRPr lang="en-US" dirty="0"/>
          </a:p>
          <a:p>
            <a:r>
              <a:rPr lang="en-US" dirty="0"/>
              <a:t>Google. (2014). Google’s smart contact lens: A new way to manage diabetes. </a:t>
            </a:r>
          </a:p>
          <a:p>
            <a:r>
              <a:rPr lang="en-US" dirty="0"/>
              <a:t>Xia, X., Zhang, Y., &amp; Wang, J. (2021). State-of-the-art in smart contact lenses for human-machine interaction.</a:t>
            </a:r>
            <a:endParaRPr lang="en-GB" dirty="0"/>
          </a:p>
        </p:txBody>
      </p:sp>
    </p:spTree>
    <p:extLst>
      <p:ext uri="{BB962C8B-B14F-4D97-AF65-F5344CB8AC3E}">
        <p14:creationId xmlns:p14="http://schemas.microsoft.com/office/powerpoint/2010/main" val="17638749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D8ED0-985E-2AAC-7A7F-35E0B79EF790}"/>
              </a:ext>
            </a:extLst>
          </p:cNvPr>
          <p:cNvSpPr>
            <a:spLocks noGrp="1"/>
          </p:cNvSpPr>
          <p:nvPr>
            <p:ph type="title"/>
          </p:nvPr>
        </p:nvSpPr>
        <p:spPr>
          <a:xfrm>
            <a:off x="741645" y="2527177"/>
            <a:ext cx="10244803" cy="3027461"/>
          </a:xfrm>
        </p:spPr>
        <p:txBody>
          <a:bodyPr/>
          <a:lstStyle/>
          <a:p>
            <a:r>
              <a:rPr lang="en-GB" sz="6000" dirty="0"/>
              <a:t>THANK YOU FOR LISTENING</a:t>
            </a:r>
          </a:p>
        </p:txBody>
      </p:sp>
    </p:spTree>
    <p:extLst>
      <p:ext uri="{BB962C8B-B14F-4D97-AF65-F5344CB8AC3E}">
        <p14:creationId xmlns:p14="http://schemas.microsoft.com/office/powerpoint/2010/main" val="374254341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EC76B5"/>
      </a:hlink>
      <a:folHlink>
        <a:srgbClr val="E8ACCD"/>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A207AED3-9ABC-4A18-9978-A59B65688B15}"/>
    </a:ext>
  </a:extLst>
</a:theme>
</file>

<file path=docProps/app.xml><?xml version="1.0" encoding="utf-8"?>
<Properties xmlns="http://schemas.openxmlformats.org/officeDocument/2006/extended-properties" xmlns:vt="http://schemas.openxmlformats.org/officeDocument/2006/docPropsVTypes">
  <Template>Ion</Template>
  <TotalTime>193</TotalTime>
  <Words>936</Words>
  <Application>Microsoft Office PowerPoint</Application>
  <PresentationFormat>Widescreen</PresentationFormat>
  <Paragraphs>57</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Century Gothic</vt:lpstr>
      <vt:lpstr>Wingdings 3</vt:lpstr>
      <vt:lpstr>Ion</vt:lpstr>
      <vt:lpstr> SMART CONTACT LENSES WITH EMBEDDED DISPLAY</vt:lpstr>
      <vt:lpstr>What is Wearable and Ubiquitous Computing?</vt:lpstr>
      <vt:lpstr>The Evolution of Smart Contact Lenses From Concept to Cutting-Edge  </vt:lpstr>
      <vt:lpstr>PowerPoint Presentation</vt:lpstr>
      <vt:lpstr>PowerPoint Presentation</vt:lpstr>
      <vt:lpstr>HOW DO SMART CONTACT LENSES WORK?</vt:lpstr>
      <vt:lpstr>CONTINUATION</vt:lpstr>
      <vt:lpstr>Applications of Smart Contact Lenses  Real-World Use Cases </vt:lpstr>
      <vt:lpstr>CHALLENGES AND LIMITATIONS</vt:lpstr>
      <vt:lpstr>FUTURE OF SMART CONTACT LENSES</vt:lpstr>
      <vt:lpstr>CONCLUSION</vt:lpstr>
      <vt:lpstr>REFERENCES</vt:lpstr>
      <vt:lpstr>THANK YOU FOR LISTENING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Favour Ojo</dc:creator>
  <cp:lastModifiedBy>Favour Ojo</cp:lastModifiedBy>
  <cp:revision>4</cp:revision>
  <dcterms:created xsi:type="dcterms:W3CDTF">2025-03-10T09:21:49Z</dcterms:created>
  <dcterms:modified xsi:type="dcterms:W3CDTF">2025-03-25T14:21:13Z</dcterms:modified>
</cp:coreProperties>
</file>