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0"/>
  </p:notesMasterIdLst>
  <p:sldIdLst>
    <p:sldId id="256" r:id="rId2"/>
    <p:sldId id="281" r:id="rId3"/>
    <p:sldId id="319" r:id="rId4"/>
    <p:sldId id="282" r:id="rId5"/>
    <p:sldId id="330" r:id="rId6"/>
    <p:sldId id="318" r:id="rId7"/>
    <p:sldId id="331" r:id="rId8"/>
    <p:sldId id="283" r:id="rId9"/>
    <p:sldId id="284" r:id="rId10"/>
    <p:sldId id="320" r:id="rId11"/>
    <p:sldId id="286" r:id="rId12"/>
    <p:sldId id="287" r:id="rId13"/>
    <p:sldId id="322" r:id="rId14"/>
    <p:sldId id="332" r:id="rId15"/>
    <p:sldId id="288" r:id="rId16"/>
    <p:sldId id="333" r:id="rId17"/>
    <p:sldId id="289" r:id="rId18"/>
    <p:sldId id="277"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6" d="100"/>
          <a:sy n="86" d="100"/>
        </p:scale>
        <p:origin x="138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8491D6F4-BD95-4849-BD0E-7032623EEB03}" type="datetimeFigureOut">
              <a:rPr lang="en-GB" smtClean="0"/>
              <a:t>10/10/2023</a:t>
            </a:fld>
            <a:endParaRPr lang="en-GB"/>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8F84B1-3616-4FC0-BA50-C95DE4BEEC53}" type="slidenum">
              <a:rPr lang="en-GB" smtClean="0"/>
              <a:t>‹#›</a:t>
            </a:fld>
            <a:endParaRPr lang="en-GB"/>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A88F84B1-3616-4FC0-BA50-C95DE4BEEC53}" type="slidenum">
              <a:rPr lang="en-GB" smtClean="0"/>
              <a:t>1</a:t>
            </a:fld>
            <a:endParaRPr lang="en-GB"/>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EFF44D7-2374-4E00-8A70-B1C8BD7365C0}" type="datetime1">
              <a:rPr lang="en-US" smtClean="0"/>
              <a:t>10/10/2023</a:t>
            </a:fld>
            <a:endParaRPr lang="en-US"/>
          </a:p>
        </p:txBody>
      </p:sp>
      <p:sp>
        <p:nvSpPr>
          <p:cNvPr id="5" name="Footer Placeholder 4"/>
          <p:cNvSpPr>
            <a:spLocks noGrp="1"/>
          </p:cNvSpPr>
          <p:nvPr>
            <p:ph type="ftr" sz="quarter" idx="11"/>
          </p:nvPr>
        </p:nvSpPr>
        <p:spPr/>
        <p:txBody>
          <a:bodyPr/>
          <a:lstStyle/>
          <a:p>
            <a:r>
              <a:rPr lang="en-US"/>
              <a:t>CSC 111 - Introduction to Computer Science: Omosebi P.A. www.trinityuniversity.edu.ng</a:t>
            </a:r>
          </a:p>
        </p:txBody>
      </p:sp>
      <p:sp>
        <p:nvSpPr>
          <p:cNvPr id="6" name="Slide Number Placeholder 5"/>
          <p:cNvSpPr>
            <a:spLocks noGrp="1"/>
          </p:cNvSpPr>
          <p:nvPr>
            <p:ph type="sldNum" sz="quarter" idx="12"/>
          </p:nvPr>
        </p:nvSpPr>
        <p:spPr/>
        <p:txBody>
          <a:bodyPr/>
          <a:lstStyle/>
          <a:p>
            <a:fld id="{3EAD76B2-8075-4333-A37F-57CC8B0E06B2}" type="slidenum">
              <a:rPr lang="en-US" smtClean="0"/>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06ED31F-953F-472F-B9AC-B446A0A998EA}" type="datetime1">
              <a:rPr lang="en-US" smtClean="0"/>
              <a:t>10/10/2023</a:t>
            </a:fld>
            <a:endParaRPr lang="en-US"/>
          </a:p>
        </p:txBody>
      </p:sp>
      <p:sp>
        <p:nvSpPr>
          <p:cNvPr id="5" name="Footer Placeholder 4"/>
          <p:cNvSpPr>
            <a:spLocks noGrp="1"/>
          </p:cNvSpPr>
          <p:nvPr>
            <p:ph type="ftr" sz="quarter" idx="11"/>
          </p:nvPr>
        </p:nvSpPr>
        <p:spPr/>
        <p:txBody>
          <a:bodyPr/>
          <a:lstStyle/>
          <a:p>
            <a:r>
              <a:rPr lang="en-US"/>
              <a:t>CSC 111 - Introduction to Computer Science: Omosebi P.A. www.trinityuniversity.edu.ng</a:t>
            </a:r>
          </a:p>
        </p:txBody>
      </p:sp>
      <p:sp>
        <p:nvSpPr>
          <p:cNvPr id="6" name="Slide Number Placeholder 5"/>
          <p:cNvSpPr>
            <a:spLocks noGrp="1"/>
          </p:cNvSpPr>
          <p:nvPr>
            <p:ph type="sldNum" sz="quarter" idx="12"/>
          </p:nvPr>
        </p:nvSpPr>
        <p:spPr/>
        <p:txBody>
          <a:bodyPr/>
          <a:lstStyle/>
          <a:p>
            <a:fld id="{3EAD76B2-8075-4333-A37F-57CC8B0E06B2}"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B5AC92E-CAB0-4CB3-B1B1-1765C7A5D981}" type="datetime1">
              <a:rPr lang="en-US" smtClean="0"/>
              <a:t>10/10/2023</a:t>
            </a:fld>
            <a:endParaRPr lang="en-US"/>
          </a:p>
        </p:txBody>
      </p:sp>
      <p:sp>
        <p:nvSpPr>
          <p:cNvPr id="5" name="Footer Placeholder 4"/>
          <p:cNvSpPr>
            <a:spLocks noGrp="1"/>
          </p:cNvSpPr>
          <p:nvPr>
            <p:ph type="ftr" sz="quarter" idx="11"/>
          </p:nvPr>
        </p:nvSpPr>
        <p:spPr/>
        <p:txBody>
          <a:bodyPr/>
          <a:lstStyle/>
          <a:p>
            <a:r>
              <a:rPr lang="en-US"/>
              <a:t>CSC 111 - Introduction to Computer Science: Omosebi P.A. www.trinityuniversity.edu.ng</a:t>
            </a:r>
          </a:p>
        </p:txBody>
      </p:sp>
      <p:sp>
        <p:nvSpPr>
          <p:cNvPr id="6" name="Slide Number Placeholder 5"/>
          <p:cNvSpPr>
            <a:spLocks noGrp="1"/>
          </p:cNvSpPr>
          <p:nvPr>
            <p:ph type="sldNum" sz="quarter" idx="12"/>
          </p:nvPr>
        </p:nvSpPr>
        <p:spPr/>
        <p:txBody>
          <a:bodyPr/>
          <a:lstStyle/>
          <a:p>
            <a:fld id="{3EAD76B2-8075-4333-A37F-57CC8B0E06B2}" type="slidenum">
              <a:rPr lang="en-US" smtClean="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B4FE7950-CC47-4459-A342-39A8AE4D8F45}" type="datetime1">
              <a:rPr lang="en-US" smtClean="0"/>
              <a:t>10/10/2023</a:t>
            </a:fld>
            <a:endParaRPr lang="en-US"/>
          </a:p>
        </p:txBody>
      </p:sp>
      <p:sp>
        <p:nvSpPr>
          <p:cNvPr id="6" name="Footer Placeholder 5"/>
          <p:cNvSpPr>
            <a:spLocks noGrp="1"/>
          </p:cNvSpPr>
          <p:nvPr>
            <p:ph type="ftr" sz="quarter" idx="11"/>
          </p:nvPr>
        </p:nvSpPr>
        <p:spPr/>
        <p:txBody>
          <a:bodyPr/>
          <a:lstStyle/>
          <a:p>
            <a:r>
              <a:rPr lang="en-US"/>
              <a:t>CSC 111 - Introduction to Computer Science: Omosebi P.A. www.trinityuniversity.edu.ng</a:t>
            </a:r>
          </a:p>
        </p:txBody>
      </p:sp>
      <p:sp>
        <p:nvSpPr>
          <p:cNvPr id="7" name="Slide Number Placeholder 6"/>
          <p:cNvSpPr>
            <a:spLocks noGrp="1"/>
          </p:cNvSpPr>
          <p:nvPr>
            <p:ph type="sldNum" sz="quarter" idx="12"/>
          </p:nvPr>
        </p:nvSpPr>
        <p:spPr/>
        <p:txBody>
          <a:bodyPr/>
          <a:lstStyle/>
          <a:p>
            <a:fld id="{3EAD76B2-8075-4333-A37F-57CC8B0E06B2}"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E5D9B2F9-4FC9-407B-BF4F-CE54850860CF}" type="datetime1">
              <a:rPr lang="en-US" smtClean="0"/>
              <a:t>10/10/2023</a:t>
            </a:fld>
            <a:endParaRPr lang="en-US"/>
          </a:p>
        </p:txBody>
      </p:sp>
      <p:sp>
        <p:nvSpPr>
          <p:cNvPr id="8" name="Footer Placeholder 7"/>
          <p:cNvSpPr>
            <a:spLocks noGrp="1"/>
          </p:cNvSpPr>
          <p:nvPr>
            <p:ph type="ftr" sz="quarter" idx="11"/>
          </p:nvPr>
        </p:nvSpPr>
        <p:spPr/>
        <p:txBody>
          <a:bodyPr/>
          <a:lstStyle/>
          <a:p>
            <a:r>
              <a:rPr lang="en-US"/>
              <a:t>CSC 111 - Introduction to Computer Science: Omosebi P.A. www.trinityuniversity.edu.ng</a:t>
            </a:r>
          </a:p>
        </p:txBody>
      </p:sp>
      <p:sp>
        <p:nvSpPr>
          <p:cNvPr id="9" name="Slide Number Placeholder 8"/>
          <p:cNvSpPr>
            <a:spLocks noGrp="1"/>
          </p:cNvSpPr>
          <p:nvPr>
            <p:ph type="sldNum" sz="quarter" idx="12"/>
          </p:nvPr>
        </p:nvSpPr>
        <p:spPr/>
        <p:txBody>
          <a:bodyPr/>
          <a:lstStyle/>
          <a:p>
            <a:fld id="{3EAD76B2-8075-4333-A37F-57CC8B0E06B2}"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C8035F43-9AE6-4E81-9629-9869BF61064F}" type="datetime1">
              <a:rPr lang="en-US" smtClean="0"/>
              <a:t>10/10/2023</a:t>
            </a:fld>
            <a:endParaRPr lang="en-US"/>
          </a:p>
        </p:txBody>
      </p:sp>
      <p:sp>
        <p:nvSpPr>
          <p:cNvPr id="4" name="Footer Placeholder 3"/>
          <p:cNvSpPr>
            <a:spLocks noGrp="1"/>
          </p:cNvSpPr>
          <p:nvPr>
            <p:ph type="ftr" sz="quarter" idx="11"/>
          </p:nvPr>
        </p:nvSpPr>
        <p:spPr/>
        <p:txBody>
          <a:bodyPr/>
          <a:lstStyle/>
          <a:p>
            <a:r>
              <a:rPr lang="en-US"/>
              <a:t>CSC 111 - Introduction to Computer Science: Omosebi P.A. www.trinityuniversity.edu.ng</a:t>
            </a:r>
          </a:p>
        </p:txBody>
      </p:sp>
      <p:sp>
        <p:nvSpPr>
          <p:cNvPr id="5" name="Slide Number Placeholder 4"/>
          <p:cNvSpPr>
            <a:spLocks noGrp="1"/>
          </p:cNvSpPr>
          <p:nvPr>
            <p:ph type="sldNum" sz="quarter" idx="12"/>
          </p:nvPr>
        </p:nvSpPr>
        <p:spPr/>
        <p:txBody>
          <a:bodyPr/>
          <a:lstStyle/>
          <a:p>
            <a:fld id="{3EAD76B2-8075-4333-A37F-57CC8B0E06B2}"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4B17C36-B30D-4E1B-A7DC-0E5DA3BB222E}" type="datetime1">
              <a:rPr lang="en-US" smtClean="0"/>
              <a:t>10/10/2023</a:t>
            </a:fld>
            <a:endParaRPr lang="en-US"/>
          </a:p>
        </p:txBody>
      </p:sp>
      <p:sp>
        <p:nvSpPr>
          <p:cNvPr id="3" name="Footer Placeholder 2"/>
          <p:cNvSpPr>
            <a:spLocks noGrp="1"/>
          </p:cNvSpPr>
          <p:nvPr>
            <p:ph type="ftr" sz="quarter" idx="11"/>
          </p:nvPr>
        </p:nvSpPr>
        <p:spPr/>
        <p:txBody>
          <a:bodyPr/>
          <a:lstStyle/>
          <a:p>
            <a:r>
              <a:rPr lang="en-US"/>
              <a:t>CSC 111 - Introduction to Computer Science: Omosebi P.A. www.trinityuniversity.edu.ng</a:t>
            </a:r>
          </a:p>
        </p:txBody>
      </p:sp>
      <p:sp>
        <p:nvSpPr>
          <p:cNvPr id="4" name="Slide Number Placeholder 3"/>
          <p:cNvSpPr>
            <a:spLocks noGrp="1"/>
          </p:cNvSpPr>
          <p:nvPr>
            <p:ph type="sldNum" sz="quarter" idx="12"/>
          </p:nvPr>
        </p:nvSpPr>
        <p:spPr/>
        <p:txBody>
          <a:bodyPr/>
          <a:lstStyle/>
          <a:p>
            <a:fld id="{3EAD76B2-8075-4333-A37F-57CC8B0E06B2}"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427ADB7-0893-4DA6-B6F8-C93ACA60149C}" type="datetime1">
              <a:rPr lang="en-US" smtClean="0"/>
              <a:t>10/10/2023</a:t>
            </a:fld>
            <a:endParaRPr lang="en-US"/>
          </a:p>
        </p:txBody>
      </p:sp>
      <p:sp>
        <p:nvSpPr>
          <p:cNvPr id="6" name="Footer Placeholder 5"/>
          <p:cNvSpPr>
            <a:spLocks noGrp="1"/>
          </p:cNvSpPr>
          <p:nvPr>
            <p:ph type="ftr" sz="quarter" idx="11"/>
          </p:nvPr>
        </p:nvSpPr>
        <p:spPr/>
        <p:txBody>
          <a:bodyPr/>
          <a:lstStyle/>
          <a:p>
            <a:r>
              <a:rPr lang="en-US"/>
              <a:t>CSC 111 - Introduction to Computer Science: Omosebi P.A. www.trinityuniversity.edu.ng</a:t>
            </a:r>
          </a:p>
        </p:txBody>
      </p:sp>
      <p:sp>
        <p:nvSpPr>
          <p:cNvPr id="7" name="Slide Number Placeholder 6"/>
          <p:cNvSpPr>
            <a:spLocks noGrp="1"/>
          </p:cNvSpPr>
          <p:nvPr>
            <p:ph type="sldNum" sz="quarter" idx="12"/>
          </p:nvPr>
        </p:nvSpPr>
        <p:spPr/>
        <p:txBody>
          <a:bodyPr/>
          <a:lstStyle/>
          <a:p>
            <a:fld id="{3EAD76B2-8075-4333-A37F-57CC8B0E06B2}"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CE8F5D1-2591-4A29-B853-9F6FC58ECA4B}" type="datetime1">
              <a:rPr lang="en-US" smtClean="0"/>
              <a:t>10/10/2023</a:t>
            </a:fld>
            <a:endParaRPr lang="en-US"/>
          </a:p>
        </p:txBody>
      </p:sp>
      <p:sp>
        <p:nvSpPr>
          <p:cNvPr id="6" name="Footer Placeholder 5"/>
          <p:cNvSpPr>
            <a:spLocks noGrp="1"/>
          </p:cNvSpPr>
          <p:nvPr>
            <p:ph type="ftr" sz="quarter" idx="11"/>
          </p:nvPr>
        </p:nvSpPr>
        <p:spPr/>
        <p:txBody>
          <a:bodyPr/>
          <a:lstStyle/>
          <a:p>
            <a:r>
              <a:rPr lang="en-US"/>
              <a:t>CSC 111 - Introduction to Computer Science: Omosebi P.A. www.trinityuniversity.edu.ng</a:t>
            </a:r>
          </a:p>
        </p:txBody>
      </p:sp>
      <p:sp>
        <p:nvSpPr>
          <p:cNvPr id="7" name="Slide Number Placeholder 6"/>
          <p:cNvSpPr>
            <a:spLocks noGrp="1"/>
          </p:cNvSpPr>
          <p:nvPr>
            <p:ph type="sldNum" sz="quarter" idx="12"/>
          </p:nvPr>
        </p:nvSpPr>
        <p:spPr/>
        <p:txBody>
          <a:bodyPr/>
          <a:lstStyle/>
          <a:p>
            <a:fld id="{3EAD76B2-8075-4333-A37F-57CC8B0E06B2}"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5B8EE49-DF72-47B5-92AF-4BAFD43E598C}" type="datetime1">
              <a:rPr lang="en-US" smtClean="0"/>
              <a:t>10/10/2023</a:t>
            </a:fld>
            <a:endParaRPr lang="en-US"/>
          </a:p>
        </p:txBody>
      </p:sp>
      <p:sp>
        <p:nvSpPr>
          <p:cNvPr id="5" name="Footer Placeholder 4"/>
          <p:cNvSpPr>
            <a:spLocks noGrp="1"/>
          </p:cNvSpPr>
          <p:nvPr>
            <p:ph type="ftr" sz="quarter" idx="11"/>
          </p:nvPr>
        </p:nvSpPr>
        <p:spPr/>
        <p:txBody>
          <a:bodyPr/>
          <a:lstStyle/>
          <a:p>
            <a:r>
              <a:rPr lang="en-US"/>
              <a:t>CSC 111 - Introduction to Computer Science: Omosebi P.A. www.trinityuniversity.edu.ng</a:t>
            </a:r>
          </a:p>
        </p:txBody>
      </p:sp>
      <p:sp>
        <p:nvSpPr>
          <p:cNvPr id="6" name="Slide Number Placeholder 5"/>
          <p:cNvSpPr>
            <a:spLocks noGrp="1"/>
          </p:cNvSpPr>
          <p:nvPr>
            <p:ph type="sldNum" sz="quarter" idx="12"/>
          </p:nvPr>
        </p:nvSpPr>
        <p:spPr/>
        <p:txBody>
          <a:bodyPr/>
          <a:lstStyle/>
          <a:p>
            <a:fld id="{3EAD76B2-8075-4333-A37F-57CC8B0E06B2}"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E64C83A2-E530-4B50-924B-30094BF3B173}" type="datetime1">
              <a:rPr lang="en-US" smtClean="0"/>
              <a:t>10/10/2023</a:t>
            </a:fld>
            <a:endParaRPr lang="en-US"/>
          </a:p>
        </p:txBody>
      </p:sp>
      <p:sp>
        <p:nvSpPr>
          <p:cNvPr id="5" name="Footer Placeholder 4"/>
          <p:cNvSpPr>
            <a:spLocks noGrp="1"/>
          </p:cNvSpPr>
          <p:nvPr>
            <p:ph type="ftr" sz="quarter" idx="11"/>
          </p:nvPr>
        </p:nvSpPr>
        <p:spPr/>
        <p:txBody>
          <a:bodyPr/>
          <a:lstStyle/>
          <a:p>
            <a:r>
              <a:rPr lang="en-US"/>
              <a:t>CSC 111 - Introduction to Computer Science: Omosebi P.A. www.trinityuniversity.edu.ng</a:t>
            </a:r>
          </a:p>
        </p:txBody>
      </p:sp>
      <p:sp>
        <p:nvSpPr>
          <p:cNvPr id="6" name="Slide Number Placeholder 5"/>
          <p:cNvSpPr>
            <a:spLocks noGrp="1"/>
          </p:cNvSpPr>
          <p:nvPr>
            <p:ph type="sldNum" sz="quarter" idx="12"/>
          </p:nvPr>
        </p:nvSpPr>
        <p:spPr/>
        <p:txBody>
          <a:bodyPr/>
          <a:lstStyle/>
          <a:p>
            <a:fld id="{3EAD76B2-8075-4333-A37F-57CC8B0E06B2}"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3A177F8-CF7F-4D3B-AC11-EE201EAA7F69}" type="datetime1">
              <a:rPr lang="en-US" smtClean="0"/>
              <a:t>10/10/2023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CSC 111 - Introduction to Computer Science: Omosebi P.A. www.trinityuniversity.edu.ng</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EAD76B2-8075-4333-A37F-57CC8B0E06B2}" type="slidenum">
              <a:rPr lang="en-US" smtClean="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734" y="0"/>
            <a:ext cx="9198734" cy="6858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itle 1"/>
          <p:cNvSpPr>
            <a:spLocks noGrp="1"/>
          </p:cNvSpPr>
          <p:nvPr>
            <p:ph type="ctrTitle"/>
          </p:nvPr>
        </p:nvSpPr>
        <p:spPr>
          <a:xfrm>
            <a:off x="0" y="2133600"/>
            <a:ext cx="9144000" cy="1752600"/>
          </a:xfrm>
          <a:solidFill>
            <a:schemeClr val="accent5"/>
          </a:solidFill>
        </p:spPr>
        <p:txBody>
          <a:bodyPr>
            <a:normAutofit fontScale="90000"/>
          </a:bodyPr>
          <a:lstStyle/>
          <a:p>
            <a:r>
              <a:rPr lang="en-GB" dirty="0">
                <a:solidFill>
                  <a:schemeClr val="bg1"/>
                </a:solidFill>
                <a:latin typeface="Arial" panose="020B0604020202020204" pitchFamily="34" charset="0"/>
                <a:cs typeface="Arial" panose="020B0604020202020204" pitchFamily="34" charset="0"/>
              </a:rPr>
              <a:t>Computational Science and Numerical Methods</a:t>
            </a:r>
            <a:br>
              <a:rPr lang="en-GB" dirty="0">
                <a:solidFill>
                  <a:schemeClr val="bg1"/>
                </a:solidFill>
                <a:latin typeface="Arial" panose="020B0604020202020204" pitchFamily="34" charset="0"/>
                <a:cs typeface="Arial" panose="020B0604020202020204" pitchFamily="34" charset="0"/>
              </a:rPr>
            </a:br>
            <a:r>
              <a:rPr lang="en-GB" dirty="0">
                <a:solidFill>
                  <a:schemeClr val="bg1"/>
                </a:solidFill>
                <a:latin typeface="Arial" panose="020B0604020202020204" pitchFamily="34" charset="0"/>
                <a:cs typeface="Arial" panose="020B0604020202020204" pitchFamily="34" charset="0"/>
              </a:rPr>
              <a:t>(CSC 317) </a:t>
            </a:r>
            <a:endParaRPr lang="en-US" dirty="0">
              <a:solidFill>
                <a:schemeClr val="bg1"/>
              </a:solidFill>
              <a:latin typeface="Arial" panose="020B0604020202020204" pitchFamily="34" charset="0"/>
              <a:cs typeface="Arial" panose="020B0604020202020204" pitchFamily="34" charset="0"/>
            </a:endParaRPr>
          </a:p>
        </p:txBody>
      </p:sp>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4734" y="19988"/>
            <a:ext cx="1304925" cy="7064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Rectangle 3"/>
          <p:cNvSpPr/>
          <p:nvPr/>
        </p:nvSpPr>
        <p:spPr>
          <a:xfrm>
            <a:off x="5954088" y="311594"/>
            <a:ext cx="3189912" cy="400110"/>
          </a:xfrm>
          <a:prstGeom prst="rect">
            <a:avLst/>
          </a:prstGeom>
        </p:spPr>
        <p:txBody>
          <a:bodyPr wrap="none">
            <a:spAutoFit/>
          </a:bodyPr>
          <a:lstStyle/>
          <a:p>
            <a:r>
              <a:rPr lang="en-US" sz="2000" dirty="0">
                <a:solidFill>
                  <a:srgbClr val="FF0000"/>
                </a:solidFill>
              </a:rPr>
              <a:t>www.trinityuniversity.edu.ng</a:t>
            </a:r>
          </a:p>
        </p:txBody>
      </p:sp>
      <p:sp>
        <p:nvSpPr>
          <p:cNvPr id="8" name="Subtitle 2"/>
          <p:cNvSpPr txBox="1"/>
          <p:nvPr/>
        </p:nvSpPr>
        <p:spPr>
          <a:xfrm>
            <a:off x="1333500" y="5045725"/>
            <a:ext cx="6477000" cy="1126476"/>
          </a:xfrm>
          <a:prstGeom prst="rect">
            <a:avLst/>
          </a:prstGeom>
          <a:solidFill>
            <a:schemeClr val="bg2"/>
          </a:solidFill>
        </p:spPr>
        <p:txBody>
          <a:bodyPr vert="horz" lIns="91440" tIns="45720" rIns="91440" bIns="45720" rtlCol="0">
            <a:noAutofit/>
          </a:bodyPr>
          <a:lstStyle>
            <a:lvl1pPr marL="0" indent="0" algn="ctr" defTabSz="914400" rtl="0" eaLnBrk="1" latinLnBrk="0" hangingPunct="1">
              <a:spcBef>
                <a:spcPct val="20000"/>
              </a:spcBef>
              <a:buFont typeface="Arial" panose="020B0604020202020204" pitchFamily="34" charset="0"/>
              <a:buNone/>
              <a:defRPr sz="3200" kern="1200">
                <a:solidFill>
                  <a:schemeClr val="tx1">
                    <a:tint val="75000"/>
                  </a:schemeClr>
                </a:solidFill>
                <a:latin typeface="+mn-lt"/>
                <a:ea typeface="+mn-ea"/>
                <a:cs typeface="+mn-cs"/>
              </a:defRPr>
            </a:lvl1pPr>
            <a:lvl2pPr marL="457200" indent="0" algn="ctr" defTabSz="914400" rtl="0" eaLnBrk="1" latinLnBrk="0" hangingPunct="1">
              <a:spcBef>
                <a:spcPct val="20000"/>
              </a:spcBef>
              <a:buFont typeface="Arial" panose="020B0604020202020204"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anose="020B0604020202020204"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anose="020B0604020202020204" pitchFamily="34" charset="0"/>
              <a:buNone/>
              <a:defRPr sz="2000" kern="1200">
                <a:solidFill>
                  <a:schemeClr val="tx1">
                    <a:tint val="75000"/>
                  </a:schemeClr>
                </a:solidFill>
                <a:latin typeface="+mn-lt"/>
                <a:ea typeface="+mn-ea"/>
                <a:cs typeface="+mn-cs"/>
              </a:defRPr>
            </a:lvl9pPr>
          </a:lstStyle>
          <a:p>
            <a:r>
              <a:rPr lang="en-US" sz="2400" b="1" dirty="0"/>
              <a:t>Omosebi Paul </a:t>
            </a:r>
            <a:r>
              <a:rPr lang="en-US" sz="2400" b="1" dirty="0" err="1"/>
              <a:t>Adeoye</a:t>
            </a:r>
            <a:endParaRPr lang="en-US" sz="2400" b="1" dirty="0"/>
          </a:p>
          <a:p>
            <a:r>
              <a:rPr lang="en-US" sz="1600" b="1" dirty="0"/>
              <a:t>08035854547</a:t>
            </a:r>
          </a:p>
          <a:p>
            <a:r>
              <a:rPr lang="en-US" sz="1600" b="1" dirty="0"/>
              <a:t>ade.omosebi@trinityuniversity.edu.ng</a:t>
            </a:r>
            <a:endParaRPr lang="en-US" sz="2400" b="1"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81050"/>
          </a:xfrm>
        </p:spPr>
        <p:txBody>
          <a:bodyPr>
            <a:normAutofit fontScale="90000"/>
          </a:bodyPr>
          <a:lstStyle/>
          <a:p>
            <a:pPr algn="l"/>
            <a:r>
              <a:rPr lang="en-GB" sz="3600" dirty="0">
                <a:solidFill>
                  <a:srgbClr val="FF0000"/>
                </a:solidFill>
                <a:cs typeface="Times New Roman" panose="02020603050405020304" pitchFamily="18" charset="0"/>
              </a:rPr>
              <a:t>O.R. AS AN ADAPTATION OF THE SCIENTIFIC APPROACH </a:t>
            </a:r>
          </a:p>
        </p:txBody>
      </p:sp>
      <p:sp>
        <p:nvSpPr>
          <p:cNvPr id="3" name="Content Placeholder 2"/>
          <p:cNvSpPr>
            <a:spLocks noGrp="1"/>
          </p:cNvSpPr>
          <p:nvPr>
            <p:ph idx="1"/>
          </p:nvPr>
        </p:nvSpPr>
        <p:spPr>
          <a:xfrm>
            <a:off x="461889" y="1143000"/>
            <a:ext cx="8229600" cy="4759911"/>
          </a:xfrm>
        </p:spPr>
        <p:txBody>
          <a:bodyPr>
            <a:normAutofit/>
          </a:bodyPr>
          <a:lstStyle/>
          <a:p>
            <a:pPr marL="0" indent="0" algn="just">
              <a:lnSpc>
                <a:spcPct val="150000"/>
              </a:lnSpc>
              <a:buNone/>
            </a:pPr>
            <a:r>
              <a:rPr lang="en-GB" dirty="0">
                <a:cs typeface="Times New Roman" panose="02020603050405020304" pitchFamily="18" charset="0"/>
              </a:rPr>
              <a:t>Operations Research is most fundamentally science-based.  </a:t>
            </a:r>
          </a:p>
          <a:p>
            <a:pPr marL="0" indent="0" algn="just">
              <a:lnSpc>
                <a:spcPct val="150000"/>
              </a:lnSpc>
              <a:buNone/>
            </a:pPr>
            <a:r>
              <a:rPr lang="en-GB" dirty="0">
                <a:cs typeface="Times New Roman" panose="02020603050405020304" pitchFamily="18" charset="0"/>
              </a:rPr>
              <a:t>It is so by adoption and adapting the scientific approach in analysing operational decision problems. (These are problems involved in carrying out operations).</a:t>
            </a:r>
          </a:p>
        </p:txBody>
      </p:sp>
      <p:sp>
        <p:nvSpPr>
          <p:cNvPr id="4" name="Footer Placeholder 3"/>
          <p:cNvSpPr>
            <a:spLocks noGrp="1"/>
          </p:cNvSpPr>
          <p:nvPr>
            <p:ph type="ftr" sz="quarter" idx="11"/>
          </p:nvPr>
        </p:nvSpPr>
        <p:spPr/>
        <p:txBody>
          <a:bodyPr/>
          <a:lstStyle/>
          <a:p>
            <a:r>
              <a:rPr lang="en-US"/>
              <a:t>CSC 111 - Introduction to Computer Science: Omosebi P.A. www.trinityuniversity.edu.ng</a:t>
            </a:r>
          </a:p>
        </p:txBody>
      </p:sp>
      <p:pic>
        <p:nvPicPr>
          <p:cNvPr id="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827"/>
          <a:stretch>
            <a:fillRect/>
          </a:stretch>
        </p:blipFill>
        <p:spPr bwMode="auto">
          <a:xfrm>
            <a:off x="0" y="6076950"/>
            <a:ext cx="914400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81050"/>
          </a:xfrm>
        </p:spPr>
        <p:txBody>
          <a:bodyPr>
            <a:normAutofit fontScale="90000"/>
          </a:bodyPr>
          <a:lstStyle/>
          <a:p>
            <a:pPr algn="l"/>
            <a:r>
              <a:rPr lang="en-GB" sz="3600" dirty="0">
                <a:solidFill>
                  <a:srgbClr val="FF0000"/>
                </a:solidFill>
                <a:cs typeface="Times New Roman" panose="02020603050405020304" pitchFamily="18" charset="0"/>
              </a:rPr>
              <a:t>O.R. AS AN ADAPTATION OF THE SCIENTIFIC APPROACH </a:t>
            </a:r>
          </a:p>
        </p:txBody>
      </p:sp>
      <p:sp>
        <p:nvSpPr>
          <p:cNvPr id="3" name="Content Placeholder 2"/>
          <p:cNvSpPr>
            <a:spLocks noGrp="1"/>
          </p:cNvSpPr>
          <p:nvPr>
            <p:ph idx="1"/>
          </p:nvPr>
        </p:nvSpPr>
        <p:spPr>
          <a:xfrm>
            <a:off x="461889" y="1143000"/>
            <a:ext cx="8229600" cy="5213350"/>
          </a:xfrm>
        </p:spPr>
        <p:txBody>
          <a:bodyPr>
            <a:normAutofit fontScale="92500"/>
          </a:bodyPr>
          <a:lstStyle/>
          <a:p>
            <a:pPr marL="0" indent="0" algn="just">
              <a:lnSpc>
                <a:spcPct val="150000"/>
              </a:lnSpc>
              <a:buNone/>
            </a:pPr>
            <a:r>
              <a:rPr lang="en-GB" sz="2800" dirty="0">
                <a:cs typeface="Times New Roman" panose="02020603050405020304" pitchFamily="18" charset="0"/>
              </a:rPr>
              <a:t>1. Definition of Problem </a:t>
            </a:r>
          </a:p>
          <a:p>
            <a:pPr marL="0" indent="0" algn="just">
              <a:lnSpc>
                <a:spcPct val="150000"/>
              </a:lnSpc>
              <a:buNone/>
            </a:pPr>
            <a:r>
              <a:rPr lang="en-GB" sz="2800" dirty="0">
                <a:cs typeface="Times New Roman" panose="02020603050405020304" pitchFamily="18" charset="0"/>
              </a:rPr>
              <a:t>This involves the development of a clear and concise statement of the problem at hand. This gives direction and meaning to other steps. </a:t>
            </a:r>
          </a:p>
          <a:p>
            <a:pPr marL="0" indent="0" algn="just">
              <a:lnSpc>
                <a:spcPct val="150000"/>
              </a:lnSpc>
              <a:buNone/>
            </a:pPr>
            <a:r>
              <a:rPr lang="en-GB" sz="2800" dirty="0">
                <a:cs typeface="Times New Roman" panose="02020603050405020304" pitchFamily="18" charset="0"/>
              </a:rPr>
              <a:t>The whole system be examined critically in order to recognize all the areas that could be affected by any decision taking. It is essential to examine the symptoms and true causes of the problem when defining the issue. </a:t>
            </a:r>
          </a:p>
        </p:txBody>
      </p:sp>
      <p:sp>
        <p:nvSpPr>
          <p:cNvPr id="4" name="Footer Placeholder 3"/>
          <p:cNvSpPr>
            <a:spLocks noGrp="1"/>
          </p:cNvSpPr>
          <p:nvPr>
            <p:ph type="ftr" sz="quarter" idx="11"/>
          </p:nvPr>
        </p:nvSpPr>
        <p:spPr/>
        <p:txBody>
          <a:bodyPr/>
          <a:lstStyle/>
          <a:p>
            <a:r>
              <a:rPr lang="en-US"/>
              <a:t>CSC 111 - Introduction to Computer Science: Omosebi P.A. www.trinityuniversity.edu.ng</a:t>
            </a:r>
          </a:p>
        </p:txBody>
      </p:sp>
      <p:pic>
        <p:nvPicPr>
          <p:cNvPr id="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827"/>
          <a:stretch>
            <a:fillRect/>
          </a:stretch>
        </p:blipFill>
        <p:spPr bwMode="auto">
          <a:xfrm>
            <a:off x="0" y="6076950"/>
            <a:ext cx="914400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8271"/>
          </a:xfrm>
        </p:spPr>
        <p:txBody>
          <a:bodyPr>
            <a:normAutofit fontScale="90000"/>
          </a:bodyPr>
          <a:lstStyle/>
          <a:p>
            <a:pPr algn="l"/>
            <a:r>
              <a:rPr lang="en-GB" sz="3600" dirty="0">
                <a:solidFill>
                  <a:srgbClr val="FF0000"/>
                </a:solidFill>
                <a:cs typeface="Times New Roman" panose="02020603050405020304" pitchFamily="18" charset="0"/>
              </a:rPr>
              <a:t>O.R. AS AN ADAPTATION OF THE SCIENTIFIC APPROACH </a:t>
            </a:r>
          </a:p>
        </p:txBody>
      </p:sp>
      <p:sp>
        <p:nvSpPr>
          <p:cNvPr id="3" name="Content Placeholder 2"/>
          <p:cNvSpPr>
            <a:spLocks noGrp="1"/>
          </p:cNvSpPr>
          <p:nvPr>
            <p:ph idx="1"/>
          </p:nvPr>
        </p:nvSpPr>
        <p:spPr>
          <a:xfrm>
            <a:off x="461889" y="1202910"/>
            <a:ext cx="8229600" cy="4664490"/>
          </a:xfrm>
        </p:spPr>
        <p:txBody>
          <a:bodyPr>
            <a:normAutofit lnSpcReduction="10000"/>
          </a:bodyPr>
          <a:lstStyle/>
          <a:p>
            <a:pPr marL="0" indent="0" algn="just">
              <a:lnSpc>
                <a:spcPct val="150000"/>
              </a:lnSpc>
              <a:buNone/>
            </a:pPr>
            <a:r>
              <a:rPr lang="en-GB" sz="2800" dirty="0">
                <a:cs typeface="Times New Roman" panose="02020603050405020304" pitchFamily="18" charset="0"/>
              </a:rPr>
              <a:t>2. Construction of a Model </a:t>
            </a:r>
          </a:p>
          <a:p>
            <a:pPr marL="0" indent="0" algn="just">
              <a:lnSpc>
                <a:spcPct val="150000"/>
              </a:lnSpc>
              <a:buNone/>
            </a:pPr>
            <a:r>
              <a:rPr lang="en-GB" sz="2800" dirty="0">
                <a:cs typeface="Times New Roman" panose="02020603050405020304" pitchFamily="18" charset="0"/>
              </a:rPr>
              <a:t>This step involves the construction of a suitable model (usually mathematical), which is a representation of the problem at hand. </a:t>
            </a:r>
          </a:p>
          <a:p>
            <a:pPr marL="0" indent="0" algn="just">
              <a:lnSpc>
                <a:spcPct val="150000"/>
              </a:lnSpc>
              <a:buNone/>
            </a:pPr>
            <a:r>
              <a:rPr lang="en-GB" sz="2800" dirty="0">
                <a:cs typeface="Times New Roman" panose="02020603050405020304" pitchFamily="18" charset="0"/>
              </a:rPr>
              <a:t>It might be of a functional nature as in linear programming or have a logical structure as in simulation and algorithms.</a:t>
            </a:r>
          </a:p>
        </p:txBody>
      </p:sp>
      <p:sp>
        <p:nvSpPr>
          <p:cNvPr id="4" name="Footer Placeholder 3"/>
          <p:cNvSpPr>
            <a:spLocks noGrp="1"/>
          </p:cNvSpPr>
          <p:nvPr>
            <p:ph type="ftr" sz="quarter" idx="11"/>
          </p:nvPr>
        </p:nvSpPr>
        <p:spPr/>
        <p:txBody>
          <a:bodyPr/>
          <a:lstStyle/>
          <a:p>
            <a:r>
              <a:rPr lang="en-US"/>
              <a:t>CSC 111 - Introduction to Computer Science: Omosebi P.A. www.trinityuniversity.edu.ng</a:t>
            </a:r>
          </a:p>
        </p:txBody>
      </p:sp>
      <p:pic>
        <p:nvPicPr>
          <p:cNvPr id="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827"/>
          <a:stretch>
            <a:fillRect/>
          </a:stretch>
        </p:blipFill>
        <p:spPr bwMode="auto">
          <a:xfrm>
            <a:off x="0" y="6076950"/>
            <a:ext cx="914400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8271"/>
          </a:xfrm>
        </p:spPr>
        <p:txBody>
          <a:bodyPr>
            <a:normAutofit fontScale="90000"/>
          </a:bodyPr>
          <a:lstStyle/>
          <a:p>
            <a:pPr algn="l"/>
            <a:r>
              <a:rPr lang="en-GB" sz="3600" dirty="0">
                <a:solidFill>
                  <a:srgbClr val="FF0000"/>
                </a:solidFill>
                <a:cs typeface="Times New Roman" panose="02020603050405020304" pitchFamily="18" charset="0"/>
              </a:rPr>
              <a:t>O.R. AS AN ADAPTATION OF THE SCIENTIFIC APPROACH </a:t>
            </a:r>
          </a:p>
        </p:txBody>
      </p:sp>
      <p:sp>
        <p:nvSpPr>
          <p:cNvPr id="3" name="Content Placeholder 2"/>
          <p:cNvSpPr>
            <a:spLocks noGrp="1"/>
          </p:cNvSpPr>
          <p:nvPr>
            <p:ph idx="1"/>
          </p:nvPr>
        </p:nvSpPr>
        <p:spPr>
          <a:xfrm>
            <a:off x="461889" y="1202910"/>
            <a:ext cx="8229600" cy="4664490"/>
          </a:xfrm>
        </p:spPr>
        <p:txBody>
          <a:bodyPr>
            <a:normAutofit fontScale="92500"/>
          </a:bodyPr>
          <a:lstStyle/>
          <a:p>
            <a:pPr marL="0" indent="0" algn="just">
              <a:lnSpc>
                <a:spcPct val="150000"/>
              </a:lnSpc>
              <a:buNone/>
            </a:pPr>
            <a:r>
              <a:rPr lang="en-GB" sz="3600" dirty="0">
                <a:cs typeface="Times New Roman" panose="02020603050405020304" pitchFamily="18" charset="0"/>
              </a:rPr>
              <a:t>Example</a:t>
            </a:r>
          </a:p>
          <a:p>
            <a:pPr marL="0" indent="0" algn="just">
              <a:lnSpc>
                <a:spcPct val="150000"/>
              </a:lnSpc>
              <a:buNone/>
            </a:pPr>
            <a:r>
              <a:rPr lang="en-GB" sz="3600" dirty="0">
                <a:cs typeface="Times New Roman" panose="02020603050405020304" pitchFamily="18" charset="0"/>
              </a:rPr>
              <a:t>Minimize: C = 4x + 5y </a:t>
            </a:r>
          </a:p>
          <a:p>
            <a:pPr marL="0" indent="0" algn="just">
              <a:lnSpc>
                <a:spcPct val="150000"/>
              </a:lnSpc>
              <a:buNone/>
            </a:pPr>
            <a:r>
              <a:rPr lang="en-GB" sz="3600" dirty="0">
                <a:cs typeface="Times New Roman" panose="02020603050405020304" pitchFamily="18" charset="0"/>
              </a:rPr>
              <a:t>Subject to: x + 3y ≥ 6 </a:t>
            </a:r>
          </a:p>
          <a:p>
            <a:pPr marL="0" indent="0" algn="just">
              <a:lnSpc>
                <a:spcPct val="150000"/>
              </a:lnSpc>
              <a:buNone/>
            </a:pPr>
            <a:r>
              <a:rPr lang="en-GB" sz="3600" dirty="0">
                <a:cs typeface="Times New Roman" panose="02020603050405020304" pitchFamily="18" charset="0"/>
              </a:rPr>
              <a:t>x + y ≥ 3 </a:t>
            </a:r>
          </a:p>
          <a:p>
            <a:pPr marL="0" indent="0" algn="just">
              <a:lnSpc>
                <a:spcPct val="150000"/>
              </a:lnSpc>
              <a:buNone/>
            </a:pPr>
            <a:r>
              <a:rPr lang="en-GB" sz="3600" dirty="0">
                <a:cs typeface="Times New Roman" panose="02020603050405020304" pitchFamily="18" charset="0"/>
              </a:rPr>
              <a:t>x , y ≥ 0 , which is a linear programming model.</a:t>
            </a:r>
          </a:p>
        </p:txBody>
      </p:sp>
      <p:sp>
        <p:nvSpPr>
          <p:cNvPr id="4" name="Footer Placeholder 3"/>
          <p:cNvSpPr>
            <a:spLocks noGrp="1"/>
          </p:cNvSpPr>
          <p:nvPr>
            <p:ph type="ftr" sz="quarter" idx="11"/>
          </p:nvPr>
        </p:nvSpPr>
        <p:spPr/>
        <p:txBody>
          <a:bodyPr/>
          <a:lstStyle/>
          <a:p>
            <a:r>
              <a:rPr lang="en-US"/>
              <a:t>CSC 111 - Introduction to Computer Science: Omosebi P.A. www.trinityuniversity.edu.ng</a:t>
            </a:r>
          </a:p>
        </p:txBody>
      </p:sp>
      <p:pic>
        <p:nvPicPr>
          <p:cNvPr id="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827"/>
          <a:stretch>
            <a:fillRect/>
          </a:stretch>
        </p:blipFill>
        <p:spPr bwMode="auto">
          <a:xfrm>
            <a:off x="0" y="6076950"/>
            <a:ext cx="914400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8271"/>
          </a:xfrm>
        </p:spPr>
        <p:txBody>
          <a:bodyPr>
            <a:normAutofit fontScale="90000"/>
          </a:bodyPr>
          <a:lstStyle/>
          <a:p>
            <a:pPr algn="l"/>
            <a:r>
              <a:rPr lang="en-GB" sz="3600" dirty="0">
                <a:solidFill>
                  <a:srgbClr val="FF0000"/>
                </a:solidFill>
                <a:cs typeface="Times New Roman" panose="02020603050405020304" pitchFamily="18" charset="0"/>
              </a:rPr>
              <a:t>O.R. AS AN ADAPTATION OF THE SCIENTIFIC APPROACH </a:t>
            </a:r>
          </a:p>
        </p:txBody>
      </p:sp>
      <p:sp>
        <p:nvSpPr>
          <p:cNvPr id="3" name="Content Placeholder 2"/>
          <p:cNvSpPr>
            <a:spLocks noGrp="1"/>
          </p:cNvSpPr>
          <p:nvPr>
            <p:ph idx="1"/>
          </p:nvPr>
        </p:nvSpPr>
        <p:spPr>
          <a:xfrm>
            <a:off x="461889" y="1202910"/>
            <a:ext cx="8229600" cy="4874040"/>
          </a:xfrm>
        </p:spPr>
        <p:txBody>
          <a:bodyPr>
            <a:normAutofit/>
          </a:bodyPr>
          <a:lstStyle/>
          <a:p>
            <a:pPr marL="0" indent="0" algn="just">
              <a:lnSpc>
                <a:spcPct val="150000"/>
              </a:lnSpc>
              <a:buNone/>
            </a:pPr>
            <a:r>
              <a:rPr lang="en-GB" dirty="0">
                <a:cs typeface="Times New Roman" panose="02020603050405020304" pitchFamily="18" charset="0"/>
              </a:rPr>
              <a:t>3. Data Collection </a:t>
            </a:r>
          </a:p>
          <a:p>
            <a:pPr marL="0" indent="0" algn="just">
              <a:lnSpc>
                <a:spcPct val="150000"/>
              </a:lnSpc>
              <a:buNone/>
            </a:pPr>
            <a:r>
              <a:rPr lang="en-GB" dirty="0">
                <a:cs typeface="Times New Roman" panose="02020603050405020304" pitchFamily="18" charset="0"/>
              </a:rPr>
              <a:t>It involves obtaining quantitative data either from existing records or a new survey that fits well into the constructed model of the problem.</a:t>
            </a:r>
          </a:p>
        </p:txBody>
      </p:sp>
      <p:sp>
        <p:nvSpPr>
          <p:cNvPr id="4" name="Footer Placeholder 3"/>
          <p:cNvSpPr>
            <a:spLocks noGrp="1"/>
          </p:cNvSpPr>
          <p:nvPr>
            <p:ph type="ftr" sz="quarter" idx="11"/>
          </p:nvPr>
        </p:nvSpPr>
        <p:spPr/>
        <p:txBody>
          <a:bodyPr/>
          <a:lstStyle/>
          <a:p>
            <a:r>
              <a:rPr lang="en-US"/>
              <a:t>CSC 111 - Introduction to Computer Science: Omosebi P.A. www.trinityuniversity.edu.ng</a:t>
            </a:r>
          </a:p>
        </p:txBody>
      </p:sp>
      <p:pic>
        <p:nvPicPr>
          <p:cNvPr id="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827"/>
          <a:stretch>
            <a:fillRect/>
          </a:stretch>
        </p:blipFill>
        <p:spPr bwMode="auto">
          <a:xfrm>
            <a:off x="0" y="6076950"/>
            <a:ext cx="914400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8271"/>
          </a:xfrm>
        </p:spPr>
        <p:txBody>
          <a:bodyPr>
            <a:normAutofit fontScale="90000"/>
          </a:bodyPr>
          <a:lstStyle/>
          <a:p>
            <a:pPr algn="l"/>
            <a:r>
              <a:rPr lang="en-GB" sz="3600" dirty="0">
                <a:solidFill>
                  <a:srgbClr val="FF0000"/>
                </a:solidFill>
                <a:cs typeface="Times New Roman" panose="02020603050405020304" pitchFamily="18" charset="0"/>
              </a:rPr>
              <a:t>O.R. AS AN ADAPTATION OF THE SCIENTIFIC APPROACH </a:t>
            </a:r>
          </a:p>
        </p:txBody>
      </p:sp>
      <p:sp>
        <p:nvSpPr>
          <p:cNvPr id="3" name="Content Placeholder 2"/>
          <p:cNvSpPr>
            <a:spLocks noGrp="1"/>
          </p:cNvSpPr>
          <p:nvPr>
            <p:ph idx="1"/>
          </p:nvPr>
        </p:nvSpPr>
        <p:spPr>
          <a:xfrm>
            <a:off x="461889" y="1202910"/>
            <a:ext cx="8229600" cy="4874040"/>
          </a:xfrm>
        </p:spPr>
        <p:txBody>
          <a:bodyPr>
            <a:normAutofit fontScale="92500" lnSpcReduction="10000"/>
          </a:bodyPr>
          <a:lstStyle/>
          <a:p>
            <a:pPr marL="0" indent="0" algn="just">
              <a:lnSpc>
                <a:spcPct val="150000"/>
              </a:lnSpc>
              <a:buNone/>
            </a:pPr>
            <a:r>
              <a:rPr lang="en-GB" sz="2800" dirty="0">
                <a:cs typeface="Times New Roman" panose="02020603050405020304" pitchFamily="18" charset="0"/>
              </a:rPr>
              <a:t>4. Developing a Solution </a:t>
            </a:r>
          </a:p>
          <a:p>
            <a:pPr marL="0" indent="0" algn="just">
              <a:lnSpc>
                <a:spcPct val="150000"/>
              </a:lnSpc>
              <a:buNone/>
            </a:pPr>
            <a:r>
              <a:rPr lang="en-GB" sz="2800" dirty="0">
                <a:cs typeface="Times New Roman" panose="02020603050405020304" pitchFamily="18" charset="0"/>
              </a:rPr>
              <a:t>Manipulation of the model to arrive at the best (optimal) solution to the problem. </a:t>
            </a:r>
          </a:p>
          <a:p>
            <a:pPr marL="0" indent="0" algn="just">
              <a:lnSpc>
                <a:spcPct val="150000"/>
              </a:lnSpc>
              <a:buNone/>
            </a:pPr>
            <a:r>
              <a:rPr lang="en-GB" sz="2800" dirty="0">
                <a:cs typeface="Times New Roman" panose="02020603050405020304" pitchFamily="18" charset="0"/>
              </a:rPr>
              <a:t>Solving some mathematical equations for optimal decisions as in calculus or linear programming models. It may also be a logical approach or a functional approach which does not require solving a mathematical equation, such as in queuing theory.</a:t>
            </a:r>
          </a:p>
        </p:txBody>
      </p:sp>
      <p:sp>
        <p:nvSpPr>
          <p:cNvPr id="4" name="Footer Placeholder 3"/>
          <p:cNvSpPr>
            <a:spLocks noGrp="1"/>
          </p:cNvSpPr>
          <p:nvPr>
            <p:ph type="ftr" sz="quarter" idx="11"/>
          </p:nvPr>
        </p:nvSpPr>
        <p:spPr/>
        <p:txBody>
          <a:bodyPr/>
          <a:lstStyle/>
          <a:p>
            <a:r>
              <a:rPr lang="en-US"/>
              <a:t>CSC 111 - Introduction to Computer Science: Omosebi P.A. www.trinityuniversity.edu.ng</a:t>
            </a:r>
          </a:p>
        </p:txBody>
      </p:sp>
      <p:pic>
        <p:nvPicPr>
          <p:cNvPr id="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827"/>
          <a:stretch>
            <a:fillRect/>
          </a:stretch>
        </p:blipFill>
        <p:spPr bwMode="auto">
          <a:xfrm>
            <a:off x="0" y="6076950"/>
            <a:ext cx="914400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928271"/>
          </a:xfrm>
        </p:spPr>
        <p:txBody>
          <a:bodyPr>
            <a:normAutofit fontScale="90000"/>
          </a:bodyPr>
          <a:lstStyle/>
          <a:p>
            <a:pPr algn="l"/>
            <a:r>
              <a:rPr lang="en-GB" sz="3600" dirty="0">
                <a:solidFill>
                  <a:srgbClr val="FF0000"/>
                </a:solidFill>
                <a:cs typeface="Times New Roman" panose="02020603050405020304" pitchFamily="18" charset="0"/>
              </a:rPr>
              <a:t>O.R. AS AN ADAPTATION OF THE SCIENTIFIC APPROACH </a:t>
            </a:r>
          </a:p>
        </p:txBody>
      </p:sp>
      <p:sp>
        <p:nvSpPr>
          <p:cNvPr id="3" name="Content Placeholder 2"/>
          <p:cNvSpPr>
            <a:spLocks noGrp="1"/>
          </p:cNvSpPr>
          <p:nvPr>
            <p:ph idx="1"/>
          </p:nvPr>
        </p:nvSpPr>
        <p:spPr>
          <a:xfrm>
            <a:off x="461889" y="1295400"/>
            <a:ext cx="8229600" cy="4607511"/>
          </a:xfrm>
        </p:spPr>
        <p:txBody>
          <a:bodyPr>
            <a:normAutofit lnSpcReduction="10000"/>
          </a:bodyPr>
          <a:lstStyle/>
          <a:p>
            <a:pPr marL="0" indent="0" algn="just">
              <a:lnSpc>
                <a:spcPct val="150000"/>
              </a:lnSpc>
              <a:buNone/>
            </a:pPr>
            <a:r>
              <a:rPr lang="en-GB" sz="2800" dirty="0">
                <a:cs typeface="Times New Roman" panose="02020603050405020304" pitchFamily="18" charset="0"/>
              </a:rPr>
              <a:t>5. Testing the Model and its Solution </a:t>
            </a:r>
          </a:p>
          <a:p>
            <a:pPr marL="0" indent="0" algn="just">
              <a:lnSpc>
                <a:spcPct val="150000"/>
              </a:lnSpc>
              <a:buNone/>
            </a:pPr>
            <a:r>
              <a:rPr lang="en-GB" sz="2800" dirty="0">
                <a:cs typeface="Times New Roman" panose="02020603050405020304" pitchFamily="18" charset="0"/>
              </a:rPr>
              <a:t>This involves determining the accuracy or the completeness of the data used in the model because inaccurate data leads to inaccurate solutions. If the model can adequately predict the effect of the changes in the system, however simple it may be, it is acceptable. </a:t>
            </a:r>
          </a:p>
        </p:txBody>
      </p:sp>
      <p:sp>
        <p:nvSpPr>
          <p:cNvPr id="4" name="Footer Placeholder 3"/>
          <p:cNvSpPr>
            <a:spLocks noGrp="1"/>
          </p:cNvSpPr>
          <p:nvPr>
            <p:ph type="ftr" sz="quarter" idx="11"/>
          </p:nvPr>
        </p:nvSpPr>
        <p:spPr/>
        <p:txBody>
          <a:bodyPr/>
          <a:lstStyle/>
          <a:p>
            <a:r>
              <a:rPr lang="en-US"/>
              <a:t>CSC 111 - Introduction to Computer Science: Omosebi P.A. www.trinityuniversity.edu.ng</a:t>
            </a:r>
          </a:p>
        </p:txBody>
      </p:sp>
      <p:pic>
        <p:nvPicPr>
          <p:cNvPr id="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827"/>
          <a:stretch>
            <a:fillRect/>
          </a:stretch>
        </p:blipFill>
        <p:spPr bwMode="auto">
          <a:xfrm>
            <a:off x="0" y="6076950"/>
            <a:ext cx="914400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81050"/>
          </a:xfrm>
        </p:spPr>
        <p:txBody>
          <a:bodyPr>
            <a:normAutofit fontScale="90000"/>
          </a:bodyPr>
          <a:lstStyle/>
          <a:p>
            <a:pPr algn="l"/>
            <a:r>
              <a:rPr lang="en-GB" sz="3600" dirty="0">
                <a:solidFill>
                  <a:srgbClr val="FF0000"/>
                </a:solidFill>
                <a:cs typeface="Times New Roman" panose="02020603050405020304" pitchFamily="18" charset="0"/>
              </a:rPr>
              <a:t>O.R. AS AN ADAPTATION OF THE SCIENTIFIC APPROACH </a:t>
            </a:r>
          </a:p>
        </p:txBody>
      </p:sp>
      <p:sp>
        <p:nvSpPr>
          <p:cNvPr id="3" name="Content Placeholder 2"/>
          <p:cNvSpPr>
            <a:spLocks noGrp="1"/>
          </p:cNvSpPr>
          <p:nvPr>
            <p:ph idx="1"/>
          </p:nvPr>
        </p:nvSpPr>
        <p:spPr>
          <a:xfrm>
            <a:off x="461888" y="1219200"/>
            <a:ext cx="8529711" cy="4857750"/>
          </a:xfrm>
        </p:spPr>
        <p:txBody>
          <a:bodyPr>
            <a:normAutofit/>
          </a:bodyPr>
          <a:lstStyle/>
          <a:p>
            <a:pPr marL="0" indent="0" algn="just">
              <a:lnSpc>
                <a:spcPct val="150000"/>
              </a:lnSpc>
              <a:buNone/>
            </a:pPr>
            <a:r>
              <a:rPr lang="en-GB" sz="2800" dirty="0">
                <a:cs typeface="Times New Roman" panose="02020603050405020304" pitchFamily="18" charset="0"/>
              </a:rPr>
              <a:t>6. Interpretation of the Results/Establishment of Controls </a:t>
            </a:r>
          </a:p>
          <a:p>
            <a:pPr marL="0" indent="0" algn="just">
              <a:lnSpc>
                <a:spcPct val="150000"/>
              </a:lnSpc>
              <a:buNone/>
            </a:pPr>
            <a:r>
              <a:rPr lang="en-GB" sz="2800" dirty="0">
                <a:cs typeface="Times New Roman" panose="02020603050405020304" pitchFamily="18" charset="0"/>
              </a:rPr>
              <a:t>This involves determining the implication of the solutions to the system. In most cases, a solution to a problem will result in a kind of action or change in the organization. The implication of these actions or changes must be determined and analysed before results are implemented.</a:t>
            </a:r>
          </a:p>
        </p:txBody>
      </p:sp>
      <p:sp>
        <p:nvSpPr>
          <p:cNvPr id="4" name="Footer Placeholder 3"/>
          <p:cNvSpPr>
            <a:spLocks noGrp="1"/>
          </p:cNvSpPr>
          <p:nvPr>
            <p:ph type="ftr" sz="quarter" idx="11"/>
          </p:nvPr>
        </p:nvSpPr>
        <p:spPr/>
        <p:txBody>
          <a:bodyPr/>
          <a:lstStyle/>
          <a:p>
            <a:r>
              <a:rPr lang="en-US"/>
              <a:t>CSC 111 - Introduction to Computer Science: Omosebi P.A. www.trinityuniversity.edu.ng</a:t>
            </a:r>
          </a:p>
        </p:txBody>
      </p:sp>
      <p:pic>
        <p:nvPicPr>
          <p:cNvPr id="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827"/>
          <a:stretch>
            <a:fillRect/>
          </a:stretch>
        </p:blipFill>
        <p:spPr bwMode="auto">
          <a:xfrm>
            <a:off x="0" y="6076950"/>
            <a:ext cx="914400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81050"/>
          </a:xfrm>
        </p:spPr>
        <p:txBody>
          <a:bodyPr>
            <a:normAutofit fontScale="90000"/>
          </a:bodyPr>
          <a:lstStyle/>
          <a:p>
            <a:pPr algn="l"/>
            <a:r>
              <a:rPr lang="en-GB" sz="3600" dirty="0">
                <a:solidFill>
                  <a:srgbClr val="FF0000"/>
                </a:solidFill>
                <a:cs typeface="Times New Roman" panose="02020603050405020304" pitchFamily="18" charset="0"/>
              </a:rPr>
              <a:t>O.R. AS AN ADAPTATION OF THE SCIENTIFIC APPROACH </a:t>
            </a:r>
          </a:p>
        </p:txBody>
      </p:sp>
      <p:sp>
        <p:nvSpPr>
          <p:cNvPr id="3" name="Content Placeholder 2"/>
          <p:cNvSpPr>
            <a:spLocks noGrp="1"/>
          </p:cNvSpPr>
          <p:nvPr>
            <p:ph idx="1"/>
          </p:nvPr>
        </p:nvSpPr>
        <p:spPr>
          <a:xfrm>
            <a:off x="461888" y="1219200"/>
            <a:ext cx="8529711" cy="4857750"/>
          </a:xfrm>
        </p:spPr>
        <p:txBody>
          <a:bodyPr>
            <a:normAutofit fontScale="92500"/>
          </a:bodyPr>
          <a:lstStyle/>
          <a:p>
            <a:pPr marL="0" indent="0" algn="just">
              <a:lnSpc>
                <a:spcPct val="150000"/>
              </a:lnSpc>
              <a:buNone/>
            </a:pPr>
            <a:r>
              <a:rPr lang="en-GB" sz="2800" dirty="0">
                <a:cs typeface="Times New Roman" panose="02020603050405020304" pitchFamily="18" charset="0"/>
              </a:rPr>
              <a:t>7. Implementation of Model </a:t>
            </a:r>
          </a:p>
          <a:p>
            <a:pPr marL="0" indent="0" algn="just">
              <a:lnSpc>
                <a:spcPct val="150000"/>
              </a:lnSpc>
              <a:buNone/>
            </a:pPr>
            <a:r>
              <a:rPr lang="en-GB" sz="2800" dirty="0">
                <a:cs typeface="Times New Roman" panose="02020603050405020304" pitchFamily="18" charset="0"/>
              </a:rPr>
              <a:t>This is the process of incorporating the solution into the system, which is carried out by the personnel already working in the area and not the Operations Research team.  </a:t>
            </a:r>
          </a:p>
          <a:p>
            <a:pPr marL="0" indent="0" algn="just">
              <a:lnSpc>
                <a:spcPct val="150000"/>
              </a:lnSpc>
              <a:buNone/>
            </a:pPr>
            <a:r>
              <a:rPr lang="en-GB" sz="2800" dirty="0">
                <a:cs typeface="Times New Roman" panose="02020603050405020304" pitchFamily="18" charset="0"/>
              </a:rPr>
              <a:t>The solution to the problem has to be translated to a set of operating instructions which can be handled by the personnel involved.</a:t>
            </a:r>
          </a:p>
        </p:txBody>
      </p:sp>
      <p:sp>
        <p:nvSpPr>
          <p:cNvPr id="4" name="Footer Placeholder 3"/>
          <p:cNvSpPr>
            <a:spLocks noGrp="1"/>
          </p:cNvSpPr>
          <p:nvPr>
            <p:ph type="ftr" sz="quarter" idx="11"/>
          </p:nvPr>
        </p:nvSpPr>
        <p:spPr/>
        <p:txBody>
          <a:bodyPr/>
          <a:lstStyle/>
          <a:p>
            <a:r>
              <a:rPr lang="en-US"/>
              <a:t>CSC 111 - Introduction to Computer Science: Omosebi P.A. www.trinityuniversity.edu.ng</a:t>
            </a:r>
          </a:p>
        </p:txBody>
      </p:sp>
      <p:pic>
        <p:nvPicPr>
          <p:cNvPr id="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827"/>
          <a:stretch>
            <a:fillRect/>
          </a:stretch>
        </p:blipFill>
        <p:spPr bwMode="auto">
          <a:xfrm>
            <a:off x="0" y="6076950"/>
            <a:ext cx="914400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r>
              <a:rPr lang="en-GB" sz="3600" dirty="0">
                <a:solidFill>
                  <a:srgbClr val="FF0000"/>
                </a:solidFill>
                <a:cs typeface="Times New Roman" panose="02020603050405020304" pitchFamily="18" charset="0"/>
              </a:rPr>
              <a:t>FLOW CHART SHOWING THE STAGES IN OPERATIONS RESEARCH </a:t>
            </a:r>
          </a:p>
        </p:txBody>
      </p:sp>
      <p:sp>
        <p:nvSpPr>
          <p:cNvPr id="3" name="Content Placeholder 2"/>
          <p:cNvSpPr>
            <a:spLocks noGrp="1"/>
          </p:cNvSpPr>
          <p:nvPr>
            <p:ph idx="1"/>
          </p:nvPr>
        </p:nvSpPr>
        <p:spPr>
          <a:xfrm>
            <a:off x="461889" y="1376948"/>
            <a:ext cx="8229600" cy="4525963"/>
          </a:xfrm>
        </p:spPr>
        <p:txBody>
          <a:bodyPr>
            <a:normAutofit/>
          </a:bodyPr>
          <a:lstStyle/>
          <a:p>
            <a:pPr marL="0" indent="0" algn="just">
              <a:buNone/>
            </a:pPr>
            <a:endParaRPr lang="en-GB" sz="3600" dirty="0"/>
          </a:p>
          <a:p>
            <a:pPr marL="0" indent="0" algn="just">
              <a:buNone/>
            </a:pPr>
            <a:r>
              <a:rPr lang="en-GB" sz="3600" dirty="0"/>
              <a:t> </a:t>
            </a:r>
          </a:p>
          <a:p>
            <a:pPr marL="0" indent="0" algn="just">
              <a:buNone/>
            </a:pPr>
            <a:endParaRPr lang="en-GB" sz="3600" dirty="0"/>
          </a:p>
          <a:p>
            <a:pPr marL="0" indent="0" algn="just">
              <a:buNone/>
            </a:pPr>
            <a:endParaRPr lang="en-GB" sz="3600" dirty="0"/>
          </a:p>
        </p:txBody>
      </p:sp>
      <p:sp>
        <p:nvSpPr>
          <p:cNvPr id="4" name="Footer Placeholder 3"/>
          <p:cNvSpPr>
            <a:spLocks noGrp="1"/>
          </p:cNvSpPr>
          <p:nvPr>
            <p:ph type="ftr" sz="quarter" idx="11"/>
          </p:nvPr>
        </p:nvSpPr>
        <p:spPr/>
        <p:txBody>
          <a:bodyPr/>
          <a:lstStyle/>
          <a:p>
            <a:r>
              <a:rPr lang="en-US"/>
              <a:t>CSC 111 - Introduction to Computer Science: Omosebi P.A. www.trinityuniversity.edu.ng</a:t>
            </a:r>
          </a:p>
        </p:txBody>
      </p:sp>
      <p:pic>
        <p:nvPicPr>
          <p:cNvPr id="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827"/>
          <a:stretch>
            <a:fillRect/>
          </a:stretch>
        </p:blipFill>
        <p:spPr bwMode="auto">
          <a:xfrm>
            <a:off x="0" y="6076950"/>
            <a:ext cx="914400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grpSp>
        <p:nvGrpSpPr>
          <p:cNvPr id="8" name="Group 7"/>
          <p:cNvGrpSpPr/>
          <p:nvPr/>
        </p:nvGrpSpPr>
        <p:grpSpPr>
          <a:xfrm>
            <a:off x="1079499" y="1443538"/>
            <a:ext cx="4953000" cy="4607511"/>
            <a:chOff x="0" y="0"/>
            <a:chExt cx="4205126" cy="3795825"/>
          </a:xfrm>
        </p:grpSpPr>
        <p:sp>
          <p:nvSpPr>
            <p:cNvPr id="9" name="Rectangle 8"/>
            <p:cNvSpPr/>
            <p:nvPr/>
          </p:nvSpPr>
          <p:spPr>
            <a:xfrm>
              <a:off x="0" y="0"/>
              <a:ext cx="50643" cy="182424"/>
            </a:xfrm>
            <a:prstGeom prst="rect">
              <a:avLst/>
            </a:prstGeom>
            <a:ln>
              <a:noFill/>
            </a:ln>
          </p:spPr>
          <p:txBody>
            <a:bodyPr vert="horz" lIns="0" tIns="0" rIns="0" bIns="0" rtlCol="0">
              <a:noAutofit/>
            </a:bodyPr>
            <a:lstStyle/>
            <a:p>
              <a:pPr marL="0" marR="0" lvl="0" indent="2540" algn="l" defTabSz="914400" eaLnBrk="1" fontAlgn="auto" latinLnBrk="0" hangingPunct="1">
                <a:lnSpc>
                  <a:spcPct val="107000"/>
                </a:lnSpc>
                <a:spcBef>
                  <a:spcPts val="0"/>
                </a:spcBef>
                <a:spcAft>
                  <a:spcPts val="800"/>
                </a:spcAft>
                <a:buClrTx/>
                <a:buSzTx/>
                <a:buFontTx/>
                <a:buNone/>
                <a:defRPr/>
              </a:pPr>
              <a:r>
                <a:rPr kumimoji="0" lang="en-GB" sz="1100" b="0" i="0" u="none" strike="noStrike" kern="0" cap="none" spc="0" normalizeH="0" baseline="0" noProof="0">
                  <a:ln>
                    <a:noFill/>
                  </a:ln>
                  <a:solidFill>
                    <a:srgbClr val="000000"/>
                  </a:solidFill>
                  <a:effectLst/>
                  <a:uLnTx/>
                  <a:uFillTx/>
                  <a:latin typeface="Times New Roman" panose="02020603050405020304" pitchFamily="18" charset="0"/>
                  <a:ea typeface="Times New Roman" panose="02020603050405020304" pitchFamily="18" charset="0"/>
                </a:rPr>
                <a:t> </a:t>
              </a:r>
            </a:p>
          </p:txBody>
        </p:sp>
        <p:sp>
          <p:nvSpPr>
            <p:cNvPr id="10" name="Rectangle 9"/>
            <p:cNvSpPr/>
            <p:nvPr/>
          </p:nvSpPr>
          <p:spPr>
            <a:xfrm>
              <a:off x="0" y="329185"/>
              <a:ext cx="50643" cy="182423"/>
            </a:xfrm>
            <a:prstGeom prst="rect">
              <a:avLst/>
            </a:prstGeom>
            <a:ln>
              <a:noFill/>
            </a:ln>
          </p:spPr>
          <p:txBody>
            <a:bodyPr vert="horz" lIns="0" tIns="0" rIns="0" bIns="0" rtlCol="0">
              <a:noAutofit/>
            </a:bodyPr>
            <a:lstStyle/>
            <a:p>
              <a:pPr marL="0" marR="0" lvl="0" indent="2540" algn="l" defTabSz="914400" eaLnBrk="1" fontAlgn="auto" latinLnBrk="0" hangingPunct="1">
                <a:lnSpc>
                  <a:spcPct val="107000"/>
                </a:lnSpc>
                <a:spcBef>
                  <a:spcPts val="0"/>
                </a:spcBef>
                <a:spcAft>
                  <a:spcPts val="800"/>
                </a:spcAft>
                <a:buClrTx/>
                <a:buSzTx/>
                <a:buFontTx/>
                <a:buNone/>
                <a:defRPr/>
              </a:pPr>
              <a:r>
                <a:rPr kumimoji="0" lang="en-GB" sz="1100" b="0" i="0" u="none" strike="noStrike" kern="0" cap="none" spc="0" normalizeH="0" baseline="0" noProof="0">
                  <a:ln>
                    <a:noFill/>
                  </a:ln>
                  <a:solidFill>
                    <a:srgbClr val="000000"/>
                  </a:solidFill>
                  <a:effectLst/>
                  <a:uLnTx/>
                  <a:uFillTx/>
                  <a:latin typeface="Times New Roman" panose="02020603050405020304" pitchFamily="18" charset="0"/>
                  <a:ea typeface="Times New Roman" panose="02020603050405020304" pitchFamily="18" charset="0"/>
                </a:rPr>
                <a:t> </a:t>
              </a:r>
            </a:p>
          </p:txBody>
        </p:sp>
        <p:sp>
          <p:nvSpPr>
            <p:cNvPr id="11" name="Rectangle 10"/>
            <p:cNvSpPr/>
            <p:nvPr/>
          </p:nvSpPr>
          <p:spPr>
            <a:xfrm>
              <a:off x="0" y="656844"/>
              <a:ext cx="50643" cy="182423"/>
            </a:xfrm>
            <a:prstGeom prst="rect">
              <a:avLst/>
            </a:prstGeom>
            <a:ln>
              <a:noFill/>
            </a:ln>
          </p:spPr>
          <p:txBody>
            <a:bodyPr vert="horz" lIns="0" tIns="0" rIns="0" bIns="0" rtlCol="0">
              <a:noAutofit/>
            </a:bodyPr>
            <a:lstStyle/>
            <a:p>
              <a:pPr marL="0" marR="0" lvl="0" indent="2540" algn="l" defTabSz="914400" eaLnBrk="1" fontAlgn="auto" latinLnBrk="0" hangingPunct="1">
                <a:lnSpc>
                  <a:spcPct val="107000"/>
                </a:lnSpc>
                <a:spcBef>
                  <a:spcPts val="0"/>
                </a:spcBef>
                <a:spcAft>
                  <a:spcPts val="800"/>
                </a:spcAft>
                <a:buClrTx/>
                <a:buSzTx/>
                <a:buFontTx/>
                <a:buNone/>
                <a:defRPr/>
              </a:pPr>
              <a:r>
                <a:rPr kumimoji="0" lang="en-GB" sz="1100" b="0" i="0" u="none" strike="noStrike" kern="0" cap="none" spc="0" normalizeH="0" baseline="0" noProof="0">
                  <a:ln>
                    <a:noFill/>
                  </a:ln>
                  <a:solidFill>
                    <a:srgbClr val="000000"/>
                  </a:solidFill>
                  <a:effectLst/>
                  <a:uLnTx/>
                  <a:uFillTx/>
                  <a:latin typeface="Times New Roman" panose="02020603050405020304" pitchFamily="18" charset="0"/>
                  <a:ea typeface="Times New Roman" panose="02020603050405020304" pitchFamily="18" charset="0"/>
                </a:rPr>
                <a:t> </a:t>
              </a:r>
            </a:p>
          </p:txBody>
        </p:sp>
        <p:sp>
          <p:nvSpPr>
            <p:cNvPr id="12" name="Rectangle 11"/>
            <p:cNvSpPr/>
            <p:nvPr/>
          </p:nvSpPr>
          <p:spPr>
            <a:xfrm>
              <a:off x="0" y="986028"/>
              <a:ext cx="50643" cy="182423"/>
            </a:xfrm>
            <a:prstGeom prst="rect">
              <a:avLst/>
            </a:prstGeom>
            <a:ln>
              <a:noFill/>
            </a:ln>
          </p:spPr>
          <p:txBody>
            <a:bodyPr vert="horz" lIns="0" tIns="0" rIns="0" bIns="0" rtlCol="0">
              <a:noAutofit/>
            </a:bodyPr>
            <a:lstStyle/>
            <a:p>
              <a:pPr marL="0" marR="0" lvl="0" indent="2540" algn="l" defTabSz="914400" eaLnBrk="1" fontAlgn="auto" latinLnBrk="0" hangingPunct="1">
                <a:lnSpc>
                  <a:spcPct val="107000"/>
                </a:lnSpc>
                <a:spcBef>
                  <a:spcPts val="0"/>
                </a:spcBef>
                <a:spcAft>
                  <a:spcPts val="800"/>
                </a:spcAft>
                <a:buClrTx/>
                <a:buSzTx/>
                <a:buFontTx/>
                <a:buNone/>
                <a:defRPr/>
              </a:pPr>
              <a:r>
                <a:rPr kumimoji="0" lang="en-GB" sz="1100" b="0" i="0" u="none" strike="noStrike" kern="0" cap="none" spc="0" normalizeH="0" baseline="0" noProof="0">
                  <a:ln>
                    <a:noFill/>
                  </a:ln>
                  <a:solidFill>
                    <a:srgbClr val="000000"/>
                  </a:solidFill>
                  <a:effectLst/>
                  <a:uLnTx/>
                  <a:uFillTx/>
                  <a:latin typeface="Times New Roman" panose="02020603050405020304" pitchFamily="18" charset="0"/>
                  <a:ea typeface="Times New Roman" panose="02020603050405020304" pitchFamily="18" charset="0"/>
                </a:rPr>
                <a:t> </a:t>
              </a:r>
            </a:p>
          </p:txBody>
        </p:sp>
        <p:sp>
          <p:nvSpPr>
            <p:cNvPr id="13" name="Rectangle 12"/>
            <p:cNvSpPr/>
            <p:nvPr/>
          </p:nvSpPr>
          <p:spPr>
            <a:xfrm>
              <a:off x="0" y="1313687"/>
              <a:ext cx="50643" cy="182423"/>
            </a:xfrm>
            <a:prstGeom prst="rect">
              <a:avLst/>
            </a:prstGeom>
            <a:ln>
              <a:noFill/>
            </a:ln>
          </p:spPr>
          <p:txBody>
            <a:bodyPr vert="horz" lIns="0" tIns="0" rIns="0" bIns="0" rtlCol="0">
              <a:noAutofit/>
            </a:bodyPr>
            <a:lstStyle/>
            <a:p>
              <a:pPr marL="0" marR="0" lvl="0" indent="2540" algn="l" defTabSz="914400" eaLnBrk="1" fontAlgn="auto" latinLnBrk="0" hangingPunct="1">
                <a:lnSpc>
                  <a:spcPct val="107000"/>
                </a:lnSpc>
                <a:spcBef>
                  <a:spcPts val="0"/>
                </a:spcBef>
                <a:spcAft>
                  <a:spcPts val="800"/>
                </a:spcAft>
                <a:buClrTx/>
                <a:buSzTx/>
                <a:buFontTx/>
                <a:buNone/>
                <a:defRPr/>
              </a:pPr>
              <a:r>
                <a:rPr kumimoji="0" lang="en-GB" sz="1100" b="0" i="0" u="none" strike="noStrike" kern="0" cap="none" spc="0" normalizeH="0" baseline="0" noProof="0">
                  <a:ln>
                    <a:noFill/>
                  </a:ln>
                  <a:solidFill>
                    <a:srgbClr val="000000"/>
                  </a:solidFill>
                  <a:effectLst/>
                  <a:uLnTx/>
                  <a:uFillTx/>
                  <a:latin typeface="Times New Roman" panose="02020603050405020304" pitchFamily="18" charset="0"/>
                  <a:ea typeface="Times New Roman" panose="02020603050405020304" pitchFamily="18" charset="0"/>
                </a:rPr>
                <a:t> </a:t>
              </a:r>
            </a:p>
          </p:txBody>
        </p:sp>
        <p:sp>
          <p:nvSpPr>
            <p:cNvPr id="14" name="Rectangle 13"/>
            <p:cNvSpPr/>
            <p:nvPr/>
          </p:nvSpPr>
          <p:spPr>
            <a:xfrm>
              <a:off x="0" y="1642871"/>
              <a:ext cx="50643" cy="182423"/>
            </a:xfrm>
            <a:prstGeom prst="rect">
              <a:avLst/>
            </a:prstGeom>
            <a:ln>
              <a:noFill/>
            </a:ln>
          </p:spPr>
          <p:txBody>
            <a:bodyPr vert="horz" lIns="0" tIns="0" rIns="0" bIns="0" rtlCol="0">
              <a:noAutofit/>
            </a:bodyPr>
            <a:lstStyle/>
            <a:p>
              <a:pPr marL="0" marR="0" lvl="0" indent="2540" algn="l" defTabSz="914400" eaLnBrk="1" fontAlgn="auto" latinLnBrk="0" hangingPunct="1">
                <a:lnSpc>
                  <a:spcPct val="107000"/>
                </a:lnSpc>
                <a:spcBef>
                  <a:spcPts val="0"/>
                </a:spcBef>
                <a:spcAft>
                  <a:spcPts val="800"/>
                </a:spcAft>
                <a:buClrTx/>
                <a:buSzTx/>
                <a:buFontTx/>
                <a:buNone/>
                <a:defRPr/>
              </a:pPr>
              <a:r>
                <a:rPr kumimoji="0" lang="en-GB" sz="1100" b="0" i="0" u="none" strike="noStrike" kern="0" cap="none" spc="0" normalizeH="0" baseline="0" noProof="0">
                  <a:ln>
                    <a:noFill/>
                  </a:ln>
                  <a:solidFill>
                    <a:srgbClr val="000000"/>
                  </a:solidFill>
                  <a:effectLst/>
                  <a:uLnTx/>
                  <a:uFillTx/>
                  <a:latin typeface="Times New Roman" panose="02020603050405020304" pitchFamily="18" charset="0"/>
                  <a:ea typeface="Times New Roman" panose="02020603050405020304" pitchFamily="18" charset="0"/>
                </a:rPr>
                <a:t> </a:t>
              </a:r>
            </a:p>
          </p:txBody>
        </p:sp>
        <p:sp>
          <p:nvSpPr>
            <p:cNvPr id="15" name="Rectangle 14"/>
            <p:cNvSpPr/>
            <p:nvPr/>
          </p:nvSpPr>
          <p:spPr>
            <a:xfrm>
              <a:off x="0" y="1970531"/>
              <a:ext cx="50643" cy="182423"/>
            </a:xfrm>
            <a:prstGeom prst="rect">
              <a:avLst/>
            </a:prstGeom>
            <a:ln>
              <a:noFill/>
            </a:ln>
          </p:spPr>
          <p:txBody>
            <a:bodyPr vert="horz" lIns="0" tIns="0" rIns="0" bIns="0" rtlCol="0">
              <a:noAutofit/>
            </a:bodyPr>
            <a:lstStyle/>
            <a:p>
              <a:pPr marL="0" marR="0" lvl="0" indent="2540" algn="l" defTabSz="914400" eaLnBrk="1" fontAlgn="auto" latinLnBrk="0" hangingPunct="1">
                <a:lnSpc>
                  <a:spcPct val="107000"/>
                </a:lnSpc>
                <a:spcBef>
                  <a:spcPts val="0"/>
                </a:spcBef>
                <a:spcAft>
                  <a:spcPts val="800"/>
                </a:spcAft>
                <a:buClrTx/>
                <a:buSzTx/>
                <a:buFontTx/>
                <a:buNone/>
                <a:defRPr/>
              </a:pPr>
              <a:r>
                <a:rPr kumimoji="0" lang="en-GB" sz="1100" b="0" i="0" u="none" strike="noStrike" kern="0" cap="none" spc="0" normalizeH="0" baseline="0" noProof="0">
                  <a:ln>
                    <a:noFill/>
                  </a:ln>
                  <a:solidFill>
                    <a:srgbClr val="000000"/>
                  </a:solidFill>
                  <a:effectLst/>
                  <a:uLnTx/>
                  <a:uFillTx/>
                  <a:latin typeface="Times New Roman" panose="02020603050405020304" pitchFamily="18" charset="0"/>
                  <a:ea typeface="Times New Roman" panose="02020603050405020304" pitchFamily="18" charset="0"/>
                </a:rPr>
                <a:t> </a:t>
              </a:r>
            </a:p>
          </p:txBody>
        </p:sp>
        <p:sp>
          <p:nvSpPr>
            <p:cNvPr id="16" name="Rectangle 15"/>
            <p:cNvSpPr/>
            <p:nvPr/>
          </p:nvSpPr>
          <p:spPr>
            <a:xfrm>
              <a:off x="0" y="2299715"/>
              <a:ext cx="50643" cy="182423"/>
            </a:xfrm>
            <a:prstGeom prst="rect">
              <a:avLst/>
            </a:prstGeom>
            <a:ln>
              <a:noFill/>
            </a:ln>
          </p:spPr>
          <p:txBody>
            <a:bodyPr vert="horz" lIns="0" tIns="0" rIns="0" bIns="0" rtlCol="0">
              <a:noAutofit/>
            </a:bodyPr>
            <a:lstStyle/>
            <a:p>
              <a:pPr marL="0" marR="0" lvl="0" indent="2540" algn="l" defTabSz="914400" eaLnBrk="1" fontAlgn="auto" latinLnBrk="0" hangingPunct="1">
                <a:lnSpc>
                  <a:spcPct val="107000"/>
                </a:lnSpc>
                <a:spcBef>
                  <a:spcPts val="0"/>
                </a:spcBef>
                <a:spcAft>
                  <a:spcPts val="800"/>
                </a:spcAft>
                <a:buClrTx/>
                <a:buSzTx/>
                <a:buFontTx/>
                <a:buNone/>
                <a:defRPr/>
              </a:pPr>
              <a:r>
                <a:rPr kumimoji="0" lang="en-GB" sz="1100" b="0" i="0" u="none" strike="noStrike" kern="0" cap="none" spc="0" normalizeH="0" baseline="0" noProof="0">
                  <a:ln>
                    <a:noFill/>
                  </a:ln>
                  <a:solidFill>
                    <a:srgbClr val="000000"/>
                  </a:solidFill>
                  <a:effectLst/>
                  <a:uLnTx/>
                  <a:uFillTx/>
                  <a:latin typeface="Times New Roman" panose="02020603050405020304" pitchFamily="18" charset="0"/>
                  <a:ea typeface="Times New Roman" panose="02020603050405020304" pitchFamily="18" charset="0"/>
                </a:rPr>
                <a:t> </a:t>
              </a:r>
            </a:p>
          </p:txBody>
        </p:sp>
        <p:sp>
          <p:nvSpPr>
            <p:cNvPr id="17" name="Rectangle 16"/>
            <p:cNvSpPr/>
            <p:nvPr/>
          </p:nvSpPr>
          <p:spPr>
            <a:xfrm>
              <a:off x="0" y="2628899"/>
              <a:ext cx="50643" cy="182423"/>
            </a:xfrm>
            <a:prstGeom prst="rect">
              <a:avLst/>
            </a:prstGeom>
            <a:ln>
              <a:noFill/>
            </a:ln>
          </p:spPr>
          <p:txBody>
            <a:bodyPr vert="horz" lIns="0" tIns="0" rIns="0" bIns="0" rtlCol="0">
              <a:noAutofit/>
            </a:bodyPr>
            <a:lstStyle/>
            <a:p>
              <a:pPr marL="0" marR="0" lvl="0" indent="2540" algn="l" defTabSz="914400" eaLnBrk="1" fontAlgn="auto" latinLnBrk="0" hangingPunct="1">
                <a:lnSpc>
                  <a:spcPct val="107000"/>
                </a:lnSpc>
                <a:spcBef>
                  <a:spcPts val="0"/>
                </a:spcBef>
                <a:spcAft>
                  <a:spcPts val="800"/>
                </a:spcAft>
                <a:buClrTx/>
                <a:buSzTx/>
                <a:buFontTx/>
                <a:buNone/>
                <a:defRPr/>
              </a:pPr>
              <a:r>
                <a:rPr kumimoji="0" lang="en-GB" sz="1100" b="0" i="0" u="none" strike="noStrike" kern="0" cap="none" spc="0" normalizeH="0" baseline="0" noProof="0">
                  <a:ln>
                    <a:noFill/>
                  </a:ln>
                  <a:solidFill>
                    <a:srgbClr val="000000"/>
                  </a:solidFill>
                  <a:effectLst/>
                  <a:uLnTx/>
                  <a:uFillTx/>
                  <a:latin typeface="Times New Roman" panose="02020603050405020304" pitchFamily="18" charset="0"/>
                  <a:ea typeface="Times New Roman" panose="02020603050405020304" pitchFamily="18" charset="0"/>
                </a:rPr>
                <a:t> </a:t>
              </a:r>
            </a:p>
          </p:txBody>
        </p:sp>
        <p:sp>
          <p:nvSpPr>
            <p:cNvPr id="18" name="Rectangle 17"/>
            <p:cNvSpPr/>
            <p:nvPr/>
          </p:nvSpPr>
          <p:spPr>
            <a:xfrm>
              <a:off x="0" y="2956559"/>
              <a:ext cx="50643" cy="182423"/>
            </a:xfrm>
            <a:prstGeom prst="rect">
              <a:avLst/>
            </a:prstGeom>
            <a:ln>
              <a:noFill/>
            </a:ln>
          </p:spPr>
          <p:txBody>
            <a:bodyPr vert="horz" lIns="0" tIns="0" rIns="0" bIns="0" rtlCol="0">
              <a:noAutofit/>
            </a:bodyPr>
            <a:lstStyle/>
            <a:p>
              <a:pPr marL="0" marR="0" lvl="0" indent="2540" algn="l" defTabSz="914400" eaLnBrk="1" fontAlgn="auto" latinLnBrk="0" hangingPunct="1">
                <a:lnSpc>
                  <a:spcPct val="107000"/>
                </a:lnSpc>
                <a:spcBef>
                  <a:spcPts val="0"/>
                </a:spcBef>
                <a:spcAft>
                  <a:spcPts val="800"/>
                </a:spcAft>
                <a:buClrTx/>
                <a:buSzTx/>
                <a:buFontTx/>
                <a:buNone/>
                <a:defRPr/>
              </a:pPr>
              <a:r>
                <a:rPr kumimoji="0" lang="en-GB" sz="1100" b="0" i="0" u="none" strike="noStrike" kern="0" cap="none" spc="0" normalizeH="0" baseline="0" noProof="0">
                  <a:ln>
                    <a:noFill/>
                  </a:ln>
                  <a:solidFill>
                    <a:srgbClr val="000000"/>
                  </a:solidFill>
                  <a:effectLst/>
                  <a:uLnTx/>
                  <a:uFillTx/>
                  <a:latin typeface="Times New Roman" panose="02020603050405020304" pitchFamily="18" charset="0"/>
                  <a:ea typeface="Times New Roman" panose="02020603050405020304" pitchFamily="18" charset="0"/>
                </a:rPr>
                <a:t> </a:t>
              </a:r>
            </a:p>
          </p:txBody>
        </p:sp>
        <p:sp>
          <p:nvSpPr>
            <p:cNvPr id="19" name="Rectangle 18"/>
            <p:cNvSpPr/>
            <p:nvPr/>
          </p:nvSpPr>
          <p:spPr>
            <a:xfrm>
              <a:off x="0" y="3285743"/>
              <a:ext cx="50643" cy="182423"/>
            </a:xfrm>
            <a:prstGeom prst="rect">
              <a:avLst/>
            </a:prstGeom>
            <a:ln>
              <a:noFill/>
            </a:ln>
          </p:spPr>
          <p:txBody>
            <a:bodyPr vert="horz" lIns="0" tIns="0" rIns="0" bIns="0" rtlCol="0">
              <a:noAutofit/>
            </a:bodyPr>
            <a:lstStyle/>
            <a:p>
              <a:pPr marL="0" marR="0" lvl="0" indent="2540" algn="l" defTabSz="914400" eaLnBrk="1" fontAlgn="auto" latinLnBrk="0" hangingPunct="1">
                <a:lnSpc>
                  <a:spcPct val="107000"/>
                </a:lnSpc>
                <a:spcBef>
                  <a:spcPts val="0"/>
                </a:spcBef>
                <a:spcAft>
                  <a:spcPts val="800"/>
                </a:spcAft>
                <a:buClrTx/>
                <a:buSzTx/>
                <a:buFontTx/>
                <a:buNone/>
                <a:defRPr/>
              </a:pPr>
              <a:r>
                <a:rPr kumimoji="0" lang="en-GB" sz="1100" b="0" i="0" u="none" strike="noStrike" kern="0" cap="none" spc="0" normalizeH="0" baseline="0" noProof="0">
                  <a:ln>
                    <a:noFill/>
                  </a:ln>
                  <a:solidFill>
                    <a:srgbClr val="000000"/>
                  </a:solidFill>
                  <a:effectLst/>
                  <a:uLnTx/>
                  <a:uFillTx/>
                  <a:latin typeface="Times New Roman" panose="02020603050405020304" pitchFamily="18" charset="0"/>
                  <a:ea typeface="Times New Roman" panose="02020603050405020304" pitchFamily="18" charset="0"/>
                </a:rPr>
                <a:t> </a:t>
              </a:r>
            </a:p>
          </p:txBody>
        </p:sp>
        <p:sp>
          <p:nvSpPr>
            <p:cNvPr id="20" name="Rectangle 19"/>
            <p:cNvSpPr/>
            <p:nvPr/>
          </p:nvSpPr>
          <p:spPr>
            <a:xfrm>
              <a:off x="0" y="3613402"/>
              <a:ext cx="50643" cy="182423"/>
            </a:xfrm>
            <a:prstGeom prst="rect">
              <a:avLst/>
            </a:prstGeom>
            <a:ln>
              <a:noFill/>
            </a:ln>
          </p:spPr>
          <p:txBody>
            <a:bodyPr vert="horz" lIns="0" tIns="0" rIns="0" bIns="0" rtlCol="0">
              <a:noAutofit/>
            </a:bodyPr>
            <a:lstStyle/>
            <a:p>
              <a:pPr marL="0" marR="0" lvl="0" indent="2540" algn="l" defTabSz="914400" eaLnBrk="1" fontAlgn="auto" latinLnBrk="0" hangingPunct="1">
                <a:lnSpc>
                  <a:spcPct val="107000"/>
                </a:lnSpc>
                <a:spcBef>
                  <a:spcPts val="0"/>
                </a:spcBef>
                <a:spcAft>
                  <a:spcPts val="800"/>
                </a:spcAft>
                <a:buClrTx/>
                <a:buSzTx/>
                <a:buFontTx/>
                <a:buNone/>
                <a:defRPr/>
              </a:pPr>
              <a:r>
                <a:rPr kumimoji="0" lang="en-GB" sz="1100" b="0" i="0" u="none" strike="noStrike" kern="0" cap="none" spc="0" normalizeH="0" baseline="0" noProof="0">
                  <a:ln>
                    <a:noFill/>
                  </a:ln>
                  <a:solidFill>
                    <a:srgbClr val="000000"/>
                  </a:solidFill>
                  <a:effectLst/>
                  <a:uLnTx/>
                  <a:uFillTx/>
                  <a:latin typeface="Times New Roman" panose="02020603050405020304" pitchFamily="18" charset="0"/>
                  <a:ea typeface="Times New Roman" panose="02020603050405020304" pitchFamily="18" charset="0"/>
                </a:rPr>
                <a:t> </a:t>
              </a:r>
            </a:p>
          </p:txBody>
        </p:sp>
        <p:sp>
          <p:nvSpPr>
            <p:cNvPr id="21" name="Shape 656"/>
            <p:cNvSpPr/>
            <p:nvPr/>
          </p:nvSpPr>
          <p:spPr>
            <a:xfrm>
              <a:off x="1920244" y="101033"/>
              <a:ext cx="1103376" cy="274320"/>
            </a:xfrm>
            <a:custGeom>
              <a:avLst/>
              <a:gdLst/>
              <a:ahLst/>
              <a:cxnLst/>
              <a:rect l="0" t="0" r="0" b="0"/>
              <a:pathLst>
                <a:path w="1103376" h="274320">
                  <a:moveTo>
                    <a:pt x="0" y="274320"/>
                  </a:moveTo>
                  <a:lnTo>
                    <a:pt x="1103376" y="274320"/>
                  </a:lnTo>
                  <a:lnTo>
                    <a:pt x="1103376" y="0"/>
                  </a:lnTo>
                  <a:lnTo>
                    <a:pt x="0" y="0"/>
                  </a:lnTo>
                  <a:close/>
                </a:path>
              </a:pathLst>
            </a:custGeom>
            <a:noFill/>
            <a:ln w="9525" cap="rnd" cmpd="sng" algn="ctr">
              <a:solidFill>
                <a:srgbClr val="000000"/>
              </a:solidFill>
              <a:prstDash val="solid"/>
              <a:miter lim="101600"/>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GB" sz="1100" b="0" i="0" u="none" strike="noStrike" kern="0" cap="none" spc="0" normalizeH="0" baseline="0" noProof="0">
                <a:ln>
                  <a:noFill/>
                </a:ln>
                <a:solidFill>
                  <a:sysClr val="windowText" lastClr="000000"/>
                </a:solidFill>
                <a:effectLst/>
                <a:uLnTx/>
                <a:uFillTx/>
              </a:endParaRPr>
            </a:p>
          </p:txBody>
        </p:sp>
        <p:sp>
          <p:nvSpPr>
            <p:cNvPr id="22" name="Rectangle 21"/>
            <p:cNvSpPr/>
            <p:nvPr/>
          </p:nvSpPr>
          <p:spPr>
            <a:xfrm>
              <a:off x="2031495" y="175337"/>
              <a:ext cx="1203497" cy="152019"/>
            </a:xfrm>
            <a:prstGeom prst="rect">
              <a:avLst/>
            </a:prstGeom>
            <a:ln>
              <a:noFill/>
            </a:ln>
          </p:spPr>
          <p:txBody>
            <a:bodyPr vert="horz" lIns="0" tIns="0" rIns="0" bIns="0" rtlCol="0">
              <a:noAutofit/>
            </a:bodyPr>
            <a:lstStyle/>
            <a:p>
              <a:pPr marL="0" marR="0" lvl="0" indent="2540" algn="l" defTabSz="914400" eaLnBrk="1" fontAlgn="auto" latinLnBrk="0" hangingPunct="1">
                <a:lnSpc>
                  <a:spcPct val="107000"/>
                </a:lnSpc>
                <a:spcBef>
                  <a:spcPts val="0"/>
                </a:spcBef>
                <a:spcAft>
                  <a:spcPts val="800"/>
                </a:spcAft>
                <a:buClrTx/>
                <a:buSzTx/>
                <a:buFontTx/>
                <a:buNone/>
                <a:defRPr/>
              </a:pPr>
              <a:r>
                <a:rPr kumimoji="0" lang="en-US" sz="1100" b="0" i="0" u="none" strike="noStrike" kern="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Problem Definition </a:t>
              </a:r>
              <a:endParaRPr kumimoji="0" lang="en-GB" sz="1100" b="0" i="0" u="none" strike="noStrike" kern="0" cap="none" spc="0" normalizeH="0" baseline="0" noProof="0">
                <a:ln>
                  <a:noFill/>
                </a:ln>
                <a:solidFill>
                  <a:srgbClr val="000000"/>
                </a:solidFill>
                <a:effectLst/>
                <a:uLnTx/>
                <a:uFillTx/>
                <a:latin typeface="Times New Roman" panose="02020603050405020304" pitchFamily="18" charset="0"/>
                <a:ea typeface="Times New Roman" panose="02020603050405020304" pitchFamily="18" charset="0"/>
              </a:endParaRPr>
            </a:p>
          </p:txBody>
        </p:sp>
        <p:sp>
          <p:nvSpPr>
            <p:cNvPr id="23" name="Shape 658"/>
            <p:cNvSpPr/>
            <p:nvPr/>
          </p:nvSpPr>
          <p:spPr>
            <a:xfrm>
              <a:off x="1920244" y="649674"/>
              <a:ext cx="1188720" cy="274320"/>
            </a:xfrm>
            <a:custGeom>
              <a:avLst/>
              <a:gdLst/>
              <a:ahLst/>
              <a:cxnLst/>
              <a:rect l="0" t="0" r="0" b="0"/>
              <a:pathLst>
                <a:path w="1188720" h="274320">
                  <a:moveTo>
                    <a:pt x="0" y="274320"/>
                  </a:moveTo>
                  <a:lnTo>
                    <a:pt x="1188720" y="274320"/>
                  </a:lnTo>
                  <a:lnTo>
                    <a:pt x="1188720" y="0"/>
                  </a:lnTo>
                  <a:lnTo>
                    <a:pt x="0" y="0"/>
                  </a:lnTo>
                  <a:close/>
                </a:path>
              </a:pathLst>
            </a:custGeom>
            <a:noFill/>
            <a:ln w="9525" cap="rnd" cmpd="sng" algn="ctr">
              <a:solidFill>
                <a:srgbClr val="000000"/>
              </a:solidFill>
              <a:prstDash val="solid"/>
              <a:miter lim="101600"/>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GB" sz="1100" b="0" i="0" u="none" strike="noStrike" kern="0" cap="none" spc="0" normalizeH="0" baseline="0" noProof="0">
                <a:ln>
                  <a:noFill/>
                </a:ln>
                <a:solidFill>
                  <a:sysClr val="windowText" lastClr="000000"/>
                </a:solidFill>
                <a:effectLst/>
                <a:uLnTx/>
                <a:uFillTx/>
              </a:endParaRPr>
            </a:p>
          </p:txBody>
        </p:sp>
        <p:sp>
          <p:nvSpPr>
            <p:cNvPr id="24" name="Rectangle 23"/>
            <p:cNvSpPr/>
            <p:nvPr/>
          </p:nvSpPr>
          <p:spPr>
            <a:xfrm>
              <a:off x="2051307" y="723977"/>
              <a:ext cx="1264235" cy="152019"/>
            </a:xfrm>
            <a:prstGeom prst="rect">
              <a:avLst/>
            </a:prstGeom>
            <a:ln>
              <a:noFill/>
            </a:ln>
          </p:spPr>
          <p:txBody>
            <a:bodyPr vert="horz" lIns="0" tIns="0" rIns="0" bIns="0" rtlCol="0">
              <a:noAutofit/>
            </a:bodyPr>
            <a:lstStyle/>
            <a:p>
              <a:pPr marL="0" marR="0" lvl="0" indent="2540" algn="l" defTabSz="914400" eaLnBrk="1" fontAlgn="auto" latinLnBrk="0" hangingPunct="1">
                <a:lnSpc>
                  <a:spcPct val="107000"/>
                </a:lnSpc>
                <a:spcBef>
                  <a:spcPts val="0"/>
                </a:spcBef>
                <a:spcAft>
                  <a:spcPts val="800"/>
                </a:spcAft>
                <a:buClrTx/>
                <a:buSzTx/>
                <a:buFontTx/>
                <a:buNone/>
                <a:defRPr/>
              </a:pPr>
              <a:r>
                <a:rPr kumimoji="0" lang="en-US" sz="1100" b="0" i="0" u="none" strike="noStrike" kern="0" cap="none" spc="0" normalizeH="0" baseline="0" noProof="0" dirty="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Model Construction </a:t>
              </a:r>
              <a:endParaRPr kumimoji="0" lang="en-GB" sz="1100" b="0" i="0" u="none" strike="noStrike" kern="0" cap="none" spc="0" normalizeH="0" baseline="0" noProof="0" dirty="0">
                <a:ln>
                  <a:noFill/>
                </a:ln>
                <a:solidFill>
                  <a:srgbClr val="000000"/>
                </a:solidFill>
                <a:effectLst/>
                <a:uLnTx/>
                <a:uFillTx/>
                <a:latin typeface="Times New Roman" panose="02020603050405020304" pitchFamily="18" charset="0"/>
                <a:ea typeface="Times New Roman" panose="02020603050405020304" pitchFamily="18" charset="0"/>
              </a:endParaRPr>
            </a:p>
          </p:txBody>
        </p:sp>
        <p:sp>
          <p:nvSpPr>
            <p:cNvPr id="25" name="Shape 660"/>
            <p:cNvSpPr/>
            <p:nvPr/>
          </p:nvSpPr>
          <p:spPr>
            <a:xfrm>
              <a:off x="1920244" y="1198313"/>
              <a:ext cx="1280160" cy="274320"/>
            </a:xfrm>
            <a:custGeom>
              <a:avLst/>
              <a:gdLst/>
              <a:ahLst/>
              <a:cxnLst/>
              <a:rect l="0" t="0" r="0" b="0"/>
              <a:pathLst>
                <a:path w="1280160" h="274320">
                  <a:moveTo>
                    <a:pt x="0" y="274320"/>
                  </a:moveTo>
                  <a:lnTo>
                    <a:pt x="1280160" y="274320"/>
                  </a:lnTo>
                  <a:lnTo>
                    <a:pt x="1280160" y="0"/>
                  </a:lnTo>
                  <a:lnTo>
                    <a:pt x="0" y="0"/>
                  </a:lnTo>
                  <a:close/>
                </a:path>
              </a:pathLst>
            </a:custGeom>
            <a:noFill/>
            <a:ln w="9525" cap="rnd" cmpd="sng" algn="ctr">
              <a:solidFill>
                <a:srgbClr val="000000"/>
              </a:solidFill>
              <a:prstDash val="solid"/>
              <a:miter lim="101600"/>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GB" sz="1100" b="0" i="0" u="none" strike="noStrike" kern="0" cap="none" spc="0" normalizeH="0" baseline="0" noProof="0">
                <a:ln>
                  <a:noFill/>
                </a:ln>
                <a:solidFill>
                  <a:sysClr val="windowText" lastClr="000000"/>
                </a:solidFill>
                <a:effectLst/>
                <a:uLnTx/>
                <a:uFillTx/>
              </a:endParaRPr>
            </a:p>
          </p:txBody>
        </p:sp>
        <p:sp>
          <p:nvSpPr>
            <p:cNvPr id="26" name="Rectangle 25"/>
            <p:cNvSpPr/>
            <p:nvPr/>
          </p:nvSpPr>
          <p:spPr>
            <a:xfrm>
              <a:off x="2043687" y="1272616"/>
              <a:ext cx="1407985" cy="152019"/>
            </a:xfrm>
            <a:prstGeom prst="rect">
              <a:avLst/>
            </a:prstGeom>
            <a:ln>
              <a:noFill/>
            </a:ln>
          </p:spPr>
          <p:txBody>
            <a:bodyPr vert="horz" lIns="0" tIns="0" rIns="0" bIns="0" rtlCol="0">
              <a:noAutofit/>
            </a:bodyPr>
            <a:lstStyle/>
            <a:p>
              <a:pPr marL="0" marR="0" lvl="0" indent="2540" algn="l" defTabSz="914400" eaLnBrk="1" fontAlgn="auto" latinLnBrk="0" hangingPunct="1">
                <a:lnSpc>
                  <a:spcPct val="107000"/>
                </a:lnSpc>
                <a:spcBef>
                  <a:spcPts val="0"/>
                </a:spcBef>
                <a:spcAft>
                  <a:spcPts val="800"/>
                </a:spcAft>
                <a:buClrTx/>
                <a:buSzTx/>
                <a:buFontTx/>
                <a:buNone/>
                <a:defRPr/>
              </a:pPr>
              <a:r>
                <a:rPr kumimoji="0" lang="en-US" sz="1100" b="0" i="0" u="none" strike="noStrike" kern="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Input Data Acquisition </a:t>
              </a:r>
              <a:endParaRPr kumimoji="0" lang="en-GB" sz="1100" b="0" i="0" u="none" strike="noStrike" kern="0" cap="none" spc="0" normalizeH="0" baseline="0" noProof="0">
                <a:ln>
                  <a:noFill/>
                </a:ln>
                <a:solidFill>
                  <a:srgbClr val="000000"/>
                </a:solidFill>
                <a:effectLst/>
                <a:uLnTx/>
                <a:uFillTx/>
                <a:latin typeface="Times New Roman" panose="02020603050405020304" pitchFamily="18" charset="0"/>
                <a:ea typeface="Times New Roman" panose="02020603050405020304" pitchFamily="18" charset="0"/>
              </a:endParaRPr>
            </a:p>
          </p:txBody>
        </p:sp>
        <p:sp>
          <p:nvSpPr>
            <p:cNvPr id="27" name="Shape 662"/>
            <p:cNvSpPr/>
            <p:nvPr/>
          </p:nvSpPr>
          <p:spPr>
            <a:xfrm>
              <a:off x="1920244" y="1746953"/>
              <a:ext cx="1188720" cy="274320"/>
            </a:xfrm>
            <a:custGeom>
              <a:avLst/>
              <a:gdLst/>
              <a:ahLst/>
              <a:cxnLst/>
              <a:rect l="0" t="0" r="0" b="0"/>
              <a:pathLst>
                <a:path w="1188720" h="274320">
                  <a:moveTo>
                    <a:pt x="0" y="274320"/>
                  </a:moveTo>
                  <a:lnTo>
                    <a:pt x="1188720" y="274320"/>
                  </a:lnTo>
                  <a:lnTo>
                    <a:pt x="1188720" y="0"/>
                  </a:lnTo>
                  <a:lnTo>
                    <a:pt x="0" y="0"/>
                  </a:lnTo>
                  <a:close/>
                </a:path>
              </a:pathLst>
            </a:custGeom>
            <a:noFill/>
            <a:ln w="9525" cap="rnd" cmpd="sng" algn="ctr">
              <a:solidFill>
                <a:srgbClr val="000000"/>
              </a:solidFill>
              <a:prstDash val="solid"/>
              <a:miter lim="101600"/>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GB" sz="1100" b="0" i="0" u="none" strike="noStrike" kern="0" cap="none" spc="0" normalizeH="0" baseline="0" noProof="0">
                <a:ln>
                  <a:noFill/>
                </a:ln>
                <a:solidFill>
                  <a:sysClr val="windowText" lastClr="000000"/>
                </a:solidFill>
                <a:effectLst/>
                <a:uLnTx/>
                <a:uFillTx/>
              </a:endParaRPr>
            </a:p>
          </p:txBody>
        </p:sp>
        <p:sp>
          <p:nvSpPr>
            <p:cNvPr id="28" name="Rectangle 27"/>
            <p:cNvSpPr/>
            <p:nvPr/>
          </p:nvSpPr>
          <p:spPr>
            <a:xfrm>
              <a:off x="2066547" y="1821256"/>
              <a:ext cx="1223572" cy="152019"/>
            </a:xfrm>
            <a:prstGeom prst="rect">
              <a:avLst/>
            </a:prstGeom>
            <a:ln>
              <a:noFill/>
            </a:ln>
          </p:spPr>
          <p:txBody>
            <a:bodyPr vert="horz" lIns="0" tIns="0" rIns="0" bIns="0" rtlCol="0">
              <a:noAutofit/>
            </a:bodyPr>
            <a:lstStyle/>
            <a:p>
              <a:pPr marL="0" marR="0" lvl="0" indent="2540" algn="l" defTabSz="914400" eaLnBrk="1" fontAlgn="auto" latinLnBrk="0" hangingPunct="1">
                <a:lnSpc>
                  <a:spcPct val="107000"/>
                </a:lnSpc>
                <a:spcBef>
                  <a:spcPts val="0"/>
                </a:spcBef>
                <a:spcAft>
                  <a:spcPts val="800"/>
                </a:spcAft>
                <a:buClrTx/>
                <a:buSzTx/>
                <a:buFontTx/>
                <a:buNone/>
                <a:defRPr/>
              </a:pPr>
              <a:r>
                <a:rPr kumimoji="0" lang="en-US" sz="1100" b="0" i="0" u="none" strike="noStrike" kern="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Solution Derivation </a:t>
              </a:r>
              <a:endParaRPr kumimoji="0" lang="en-GB" sz="1100" b="0" i="0" u="none" strike="noStrike" kern="0" cap="none" spc="0" normalizeH="0" baseline="0" noProof="0">
                <a:ln>
                  <a:noFill/>
                </a:ln>
                <a:solidFill>
                  <a:srgbClr val="000000"/>
                </a:solidFill>
                <a:effectLst/>
                <a:uLnTx/>
                <a:uFillTx/>
                <a:latin typeface="Times New Roman" panose="02020603050405020304" pitchFamily="18" charset="0"/>
                <a:ea typeface="Times New Roman" panose="02020603050405020304" pitchFamily="18" charset="0"/>
              </a:endParaRPr>
            </a:p>
          </p:txBody>
        </p:sp>
        <p:sp>
          <p:nvSpPr>
            <p:cNvPr id="29" name="Shape 664"/>
            <p:cNvSpPr/>
            <p:nvPr/>
          </p:nvSpPr>
          <p:spPr>
            <a:xfrm>
              <a:off x="1645924" y="2295593"/>
              <a:ext cx="1645920" cy="274320"/>
            </a:xfrm>
            <a:custGeom>
              <a:avLst/>
              <a:gdLst/>
              <a:ahLst/>
              <a:cxnLst/>
              <a:rect l="0" t="0" r="0" b="0"/>
              <a:pathLst>
                <a:path w="1645920" h="274320">
                  <a:moveTo>
                    <a:pt x="0" y="274320"/>
                  </a:moveTo>
                  <a:lnTo>
                    <a:pt x="1645920" y="274320"/>
                  </a:lnTo>
                  <a:lnTo>
                    <a:pt x="1645920" y="0"/>
                  </a:lnTo>
                  <a:lnTo>
                    <a:pt x="0" y="0"/>
                  </a:lnTo>
                  <a:close/>
                </a:path>
              </a:pathLst>
            </a:custGeom>
            <a:noFill/>
            <a:ln w="9525" cap="rnd" cmpd="sng" algn="ctr">
              <a:solidFill>
                <a:srgbClr val="000000"/>
              </a:solidFill>
              <a:prstDash val="solid"/>
              <a:miter lim="101600"/>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GB" sz="1100" b="0" i="0" u="none" strike="noStrike" kern="0" cap="none" spc="0" normalizeH="0" baseline="0" noProof="0">
                <a:ln>
                  <a:noFill/>
                </a:ln>
                <a:solidFill>
                  <a:sysClr val="windowText" lastClr="000000"/>
                </a:solidFill>
                <a:effectLst/>
                <a:uLnTx/>
                <a:uFillTx/>
              </a:endParaRPr>
            </a:p>
          </p:txBody>
        </p:sp>
        <p:sp>
          <p:nvSpPr>
            <p:cNvPr id="30" name="Rectangle 29"/>
            <p:cNvSpPr/>
            <p:nvPr/>
          </p:nvSpPr>
          <p:spPr>
            <a:xfrm>
              <a:off x="1770891" y="2369896"/>
              <a:ext cx="1888092" cy="152019"/>
            </a:xfrm>
            <a:prstGeom prst="rect">
              <a:avLst/>
            </a:prstGeom>
            <a:ln>
              <a:noFill/>
            </a:ln>
          </p:spPr>
          <p:txBody>
            <a:bodyPr vert="horz" lIns="0" tIns="0" rIns="0" bIns="0" rtlCol="0">
              <a:noAutofit/>
            </a:bodyPr>
            <a:lstStyle/>
            <a:p>
              <a:pPr marL="0" marR="0" lvl="0" indent="2540" algn="l" defTabSz="914400" eaLnBrk="1" fontAlgn="auto" latinLnBrk="0" hangingPunct="1">
                <a:lnSpc>
                  <a:spcPct val="107000"/>
                </a:lnSpc>
                <a:spcBef>
                  <a:spcPts val="0"/>
                </a:spcBef>
                <a:spcAft>
                  <a:spcPts val="800"/>
                </a:spcAft>
                <a:buClrTx/>
                <a:buSzTx/>
                <a:buFontTx/>
                <a:buNone/>
                <a:defRPr/>
              </a:pPr>
              <a:r>
                <a:rPr kumimoji="0" lang="en-US" sz="1100" b="0" i="0" u="none" strike="noStrike" kern="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Testing of Model and Solution </a:t>
              </a:r>
              <a:endParaRPr kumimoji="0" lang="en-GB" sz="1100" b="0" i="0" u="none" strike="noStrike" kern="0" cap="none" spc="0" normalizeH="0" baseline="0" noProof="0">
                <a:ln>
                  <a:noFill/>
                </a:ln>
                <a:solidFill>
                  <a:srgbClr val="000000"/>
                </a:solidFill>
                <a:effectLst/>
                <a:uLnTx/>
                <a:uFillTx/>
                <a:latin typeface="Times New Roman" panose="02020603050405020304" pitchFamily="18" charset="0"/>
                <a:ea typeface="Times New Roman" panose="02020603050405020304" pitchFamily="18" charset="0"/>
              </a:endParaRPr>
            </a:p>
          </p:txBody>
        </p:sp>
        <p:sp>
          <p:nvSpPr>
            <p:cNvPr id="31" name="Shape 666"/>
            <p:cNvSpPr/>
            <p:nvPr/>
          </p:nvSpPr>
          <p:spPr>
            <a:xfrm>
              <a:off x="1371604" y="2844233"/>
              <a:ext cx="2286000" cy="274320"/>
            </a:xfrm>
            <a:custGeom>
              <a:avLst/>
              <a:gdLst/>
              <a:ahLst/>
              <a:cxnLst/>
              <a:rect l="0" t="0" r="0" b="0"/>
              <a:pathLst>
                <a:path w="2286000" h="274320">
                  <a:moveTo>
                    <a:pt x="0" y="274320"/>
                  </a:moveTo>
                  <a:lnTo>
                    <a:pt x="2286000" y="274320"/>
                  </a:lnTo>
                  <a:lnTo>
                    <a:pt x="2286000" y="0"/>
                  </a:lnTo>
                  <a:lnTo>
                    <a:pt x="0" y="0"/>
                  </a:lnTo>
                  <a:close/>
                </a:path>
              </a:pathLst>
            </a:custGeom>
            <a:noFill/>
            <a:ln w="9525" cap="rnd" cmpd="sng" algn="ctr">
              <a:solidFill>
                <a:srgbClr val="000000"/>
              </a:solidFill>
              <a:prstDash val="solid"/>
              <a:miter lim="101600"/>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GB" sz="1100" b="0" i="0" u="none" strike="noStrike" kern="0" cap="none" spc="0" normalizeH="0" baseline="0" noProof="0">
                <a:ln>
                  <a:noFill/>
                </a:ln>
                <a:solidFill>
                  <a:sysClr val="windowText" lastClr="000000"/>
                </a:solidFill>
                <a:effectLst/>
                <a:uLnTx/>
                <a:uFillTx/>
              </a:endParaRPr>
            </a:p>
          </p:txBody>
        </p:sp>
        <p:sp>
          <p:nvSpPr>
            <p:cNvPr id="32" name="Rectangle 31"/>
            <p:cNvSpPr/>
            <p:nvPr/>
          </p:nvSpPr>
          <p:spPr>
            <a:xfrm>
              <a:off x="1516383" y="2918536"/>
              <a:ext cx="2688743" cy="152019"/>
            </a:xfrm>
            <a:prstGeom prst="rect">
              <a:avLst/>
            </a:prstGeom>
            <a:ln>
              <a:noFill/>
            </a:ln>
          </p:spPr>
          <p:txBody>
            <a:bodyPr vert="horz" lIns="0" tIns="0" rIns="0" bIns="0" rtlCol="0">
              <a:noAutofit/>
            </a:bodyPr>
            <a:lstStyle/>
            <a:p>
              <a:pPr marL="0" marR="0" lvl="0" indent="2540" algn="l" defTabSz="914400" eaLnBrk="1" fontAlgn="auto" latinLnBrk="0" hangingPunct="1">
                <a:lnSpc>
                  <a:spcPct val="107000"/>
                </a:lnSpc>
                <a:spcBef>
                  <a:spcPts val="0"/>
                </a:spcBef>
                <a:spcAft>
                  <a:spcPts val="800"/>
                </a:spcAft>
                <a:buClrTx/>
                <a:buSzTx/>
                <a:buFontTx/>
                <a:buNone/>
                <a:defRPr/>
              </a:pPr>
              <a:r>
                <a:rPr kumimoji="0" lang="en-US" sz="1100" b="0" i="0" u="none" strike="noStrike" kern="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Analyzing Results/Establishment of Control </a:t>
              </a:r>
              <a:endParaRPr kumimoji="0" lang="en-GB" sz="1100" b="0" i="0" u="none" strike="noStrike" kern="0" cap="none" spc="0" normalizeH="0" baseline="0" noProof="0">
                <a:ln>
                  <a:noFill/>
                </a:ln>
                <a:solidFill>
                  <a:srgbClr val="000000"/>
                </a:solidFill>
                <a:effectLst/>
                <a:uLnTx/>
                <a:uFillTx/>
                <a:latin typeface="Times New Roman" panose="02020603050405020304" pitchFamily="18" charset="0"/>
                <a:ea typeface="Times New Roman" panose="02020603050405020304" pitchFamily="18" charset="0"/>
              </a:endParaRPr>
            </a:p>
          </p:txBody>
        </p:sp>
        <p:sp>
          <p:nvSpPr>
            <p:cNvPr id="33" name="Shape 668"/>
            <p:cNvSpPr/>
            <p:nvPr/>
          </p:nvSpPr>
          <p:spPr>
            <a:xfrm>
              <a:off x="1737364" y="3392873"/>
              <a:ext cx="1554480" cy="274320"/>
            </a:xfrm>
            <a:custGeom>
              <a:avLst/>
              <a:gdLst/>
              <a:ahLst/>
              <a:cxnLst/>
              <a:rect l="0" t="0" r="0" b="0"/>
              <a:pathLst>
                <a:path w="1554480" h="274320">
                  <a:moveTo>
                    <a:pt x="0" y="274320"/>
                  </a:moveTo>
                  <a:lnTo>
                    <a:pt x="1554480" y="274320"/>
                  </a:lnTo>
                  <a:lnTo>
                    <a:pt x="1554480" y="0"/>
                  </a:lnTo>
                  <a:lnTo>
                    <a:pt x="0" y="0"/>
                  </a:lnTo>
                  <a:close/>
                </a:path>
              </a:pathLst>
            </a:custGeom>
            <a:noFill/>
            <a:ln w="9525" cap="rnd" cmpd="sng" algn="ctr">
              <a:solidFill>
                <a:srgbClr val="000000"/>
              </a:solidFill>
              <a:prstDash val="solid"/>
              <a:miter lim="101600"/>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GB" sz="1100" b="0" i="0" u="none" strike="noStrike" kern="0" cap="none" spc="0" normalizeH="0" baseline="0" noProof="0">
                <a:ln>
                  <a:noFill/>
                </a:ln>
                <a:solidFill>
                  <a:sysClr val="windowText" lastClr="000000"/>
                </a:solidFill>
                <a:effectLst/>
                <a:uLnTx/>
                <a:uFillTx/>
              </a:endParaRPr>
            </a:p>
          </p:txBody>
        </p:sp>
        <p:sp>
          <p:nvSpPr>
            <p:cNvPr id="34" name="Rectangle 33"/>
            <p:cNvSpPr/>
            <p:nvPr/>
          </p:nvSpPr>
          <p:spPr>
            <a:xfrm>
              <a:off x="1898907" y="3467175"/>
              <a:ext cx="1669694" cy="152019"/>
            </a:xfrm>
            <a:prstGeom prst="rect">
              <a:avLst/>
            </a:prstGeom>
            <a:ln>
              <a:noFill/>
            </a:ln>
          </p:spPr>
          <p:txBody>
            <a:bodyPr vert="horz" lIns="0" tIns="0" rIns="0" bIns="0" rtlCol="0">
              <a:noAutofit/>
            </a:bodyPr>
            <a:lstStyle/>
            <a:p>
              <a:pPr marL="0" marR="0" lvl="0" indent="2540" algn="l" defTabSz="914400" eaLnBrk="1" fontAlgn="auto" latinLnBrk="0" hangingPunct="1">
                <a:lnSpc>
                  <a:spcPct val="107000"/>
                </a:lnSpc>
                <a:spcBef>
                  <a:spcPts val="0"/>
                </a:spcBef>
                <a:spcAft>
                  <a:spcPts val="800"/>
                </a:spcAft>
                <a:buClrTx/>
                <a:buSzTx/>
                <a:buFontTx/>
                <a:buNone/>
                <a:defRPr/>
              </a:pPr>
              <a:r>
                <a:rPr kumimoji="0" lang="en-US" sz="1100" b="0" i="0" u="none" strike="noStrike" kern="0" cap="none" spc="0" normalizeH="0" baseline="0" noProof="0">
                  <a:ln>
                    <a:noFill/>
                  </a:ln>
                  <a:solidFill>
                    <a:srgbClr val="000000"/>
                  </a:solidFill>
                  <a:effectLst/>
                  <a:uLnTx/>
                  <a:uFillTx/>
                  <a:latin typeface="Calibri" panose="020F0502020204030204" pitchFamily="34" charset="0"/>
                  <a:ea typeface="Calibri" panose="020F0502020204030204" pitchFamily="34" charset="0"/>
                  <a:cs typeface="Calibri" panose="020F0502020204030204" pitchFamily="34" charset="0"/>
                </a:rPr>
                <a:t>Implementation of Results </a:t>
              </a:r>
              <a:endParaRPr kumimoji="0" lang="en-GB" sz="1100" b="0" i="0" u="none" strike="noStrike" kern="0" cap="none" spc="0" normalizeH="0" baseline="0" noProof="0">
                <a:ln>
                  <a:noFill/>
                </a:ln>
                <a:solidFill>
                  <a:srgbClr val="000000"/>
                </a:solidFill>
                <a:effectLst/>
                <a:uLnTx/>
                <a:uFillTx/>
                <a:latin typeface="Times New Roman" panose="02020603050405020304" pitchFamily="18" charset="0"/>
                <a:ea typeface="Times New Roman" panose="02020603050405020304" pitchFamily="18" charset="0"/>
              </a:endParaRPr>
            </a:p>
          </p:txBody>
        </p:sp>
        <p:sp>
          <p:nvSpPr>
            <p:cNvPr id="35" name="Shape 670"/>
            <p:cNvSpPr/>
            <p:nvPr/>
          </p:nvSpPr>
          <p:spPr>
            <a:xfrm>
              <a:off x="2430784" y="370781"/>
              <a:ext cx="76200" cy="278892"/>
            </a:xfrm>
            <a:custGeom>
              <a:avLst/>
              <a:gdLst/>
              <a:ahLst/>
              <a:cxnLst/>
              <a:rect l="0" t="0" r="0" b="0"/>
              <a:pathLst>
                <a:path w="76200" h="278892">
                  <a:moveTo>
                    <a:pt x="38100" y="0"/>
                  </a:moveTo>
                  <a:lnTo>
                    <a:pt x="41148" y="1524"/>
                  </a:lnTo>
                  <a:lnTo>
                    <a:pt x="42672" y="4572"/>
                  </a:lnTo>
                  <a:lnTo>
                    <a:pt x="42672" y="202692"/>
                  </a:lnTo>
                  <a:lnTo>
                    <a:pt x="76200" y="202692"/>
                  </a:lnTo>
                  <a:lnTo>
                    <a:pt x="38100" y="278892"/>
                  </a:lnTo>
                  <a:lnTo>
                    <a:pt x="0" y="202692"/>
                  </a:lnTo>
                  <a:lnTo>
                    <a:pt x="33528" y="202692"/>
                  </a:lnTo>
                  <a:lnTo>
                    <a:pt x="33528" y="4572"/>
                  </a:lnTo>
                  <a:lnTo>
                    <a:pt x="35052" y="1524"/>
                  </a:lnTo>
                  <a:lnTo>
                    <a:pt x="38100" y="0"/>
                  </a:lnTo>
                  <a:close/>
                </a:path>
              </a:pathLst>
            </a:custGeom>
            <a:solidFill>
              <a:srgbClr val="000000"/>
            </a:solidFill>
            <a:ln w="0" cap="rnd">
              <a:noFill/>
              <a:miter lim="101600"/>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GB" sz="1100" b="0" i="0" u="none" strike="noStrike" kern="0" cap="none" spc="0" normalizeH="0" baseline="0" noProof="0">
                <a:ln>
                  <a:noFill/>
                </a:ln>
                <a:solidFill>
                  <a:sysClr val="windowText" lastClr="000000"/>
                </a:solidFill>
                <a:effectLst/>
                <a:uLnTx/>
                <a:uFillTx/>
              </a:endParaRPr>
            </a:p>
          </p:txBody>
        </p:sp>
        <p:sp>
          <p:nvSpPr>
            <p:cNvPr id="36" name="Shape 671"/>
            <p:cNvSpPr/>
            <p:nvPr/>
          </p:nvSpPr>
          <p:spPr>
            <a:xfrm>
              <a:off x="2430784" y="919421"/>
              <a:ext cx="76200" cy="278892"/>
            </a:xfrm>
            <a:custGeom>
              <a:avLst/>
              <a:gdLst/>
              <a:ahLst/>
              <a:cxnLst/>
              <a:rect l="0" t="0" r="0" b="0"/>
              <a:pathLst>
                <a:path w="76200" h="278892">
                  <a:moveTo>
                    <a:pt x="38100" y="0"/>
                  </a:moveTo>
                  <a:lnTo>
                    <a:pt x="41148" y="1524"/>
                  </a:lnTo>
                  <a:lnTo>
                    <a:pt x="42672" y="4572"/>
                  </a:lnTo>
                  <a:lnTo>
                    <a:pt x="42672" y="202692"/>
                  </a:lnTo>
                  <a:lnTo>
                    <a:pt x="76200" y="202692"/>
                  </a:lnTo>
                  <a:lnTo>
                    <a:pt x="38100" y="278892"/>
                  </a:lnTo>
                  <a:lnTo>
                    <a:pt x="0" y="202692"/>
                  </a:lnTo>
                  <a:lnTo>
                    <a:pt x="33528" y="202692"/>
                  </a:lnTo>
                  <a:lnTo>
                    <a:pt x="33528" y="4572"/>
                  </a:lnTo>
                  <a:lnTo>
                    <a:pt x="35052" y="1524"/>
                  </a:lnTo>
                  <a:lnTo>
                    <a:pt x="38100" y="0"/>
                  </a:lnTo>
                  <a:close/>
                </a:path>
              </a:pathLst>
            </a:custGeom>
            <a:solidFill>
              <a:srgbClr val="000000"/>
            </a:solidFill>
            <a:ln w="0" cap="rnd">
              <a:noFill/>
              <a:miter lim="101600"/>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GB" sz="1100" b="0" i="0" u="none" strike="noStrike" kern="0" cap="none" spc="0" normalizeH="0" baseline="0" noProof="0">
                <a:ln>
                  <a:noFill/>
                </a:ln>
                <a:solidFill>
                  <a:sysClr val="windowText" lastClr="000000"/>
                </a:solidFill>
                <a:effectLst/>
                <a:uLnTx/>
                <a:uFillTx/>
              </a:endParaRPr>
            </a:p>
          </p:txBody>
        </p:sp>
        <p:sp>
          <p:nvSpPr>
            <p:cNvPr id="37" name="Shape 672"/>
            <p:cNvSpPr/>
            <p:nvPr/>
          </p:nvSpPr>
          <p:spPr>
            <a:xfrm>
              <a:off x="2430784" y="1468061"/>
              <a:ext cx="76200" cy="278892"/>
            </a:xfrm>
            <a:custGeom>
              <a:avLst/>
              <a:gdLst/>
              <a:ahLst/>
              <a:cxnLst/>
              <a:rect l="0" t="0" r="0" b="0"/>
              <a:pathLst>
                <a:path w="76200" h="278892">
                  <a:moveTo>
                    <a:pt x="38100" y="0"/>
                  </a:moveTo>
                  <a:lnTo>
                    <a:pt x="41148" y="1524"/>
                  </a:lnTo>
                  <a:lnTo>
                    <a:pt x="42672" y="4572"/>
                  </a:lnTo>
                  <a:lnTo>
                    <a:pt x="42672" y="202692"/>
                  </a:lnTo>
                  <a:lnTo>
                    <a:pt x="76200" y="202692"/>
                  </a:lnTo>
                  <a:lnTo>
                    <a:pt x="38100" y="278892"/>
                  </a:lnTo>
                  <a:lnTo>
                    <a:pt x="0" y="202692"/>
                  </a:lnTo>
                  <a:lnTo>
                    <a:pt x="33528" y="202692"/>
                  </a:lnTo>
                  <a:lnTo>
                    <a:pt x="33528" y="4572"/>
                  </a:lnTo>
                  <a:lnTo>
                    <a:pt x="35052" y="1524"/>
                  </a:lnTo>
                  <a:lnTo>
                    <a:pt x="38100" y="0"/>
                  </a:lnTo>
                  <a:close/>
                </a:path>
              </a:pathLst>
            </a:custGeom>
            <a:solidFill>
              <a:srgbClr val="000000"/>
            </a:solidFill>
            <a:ln w="0" cap="rnd">
              <a:noFill/>
              <a:miter lim="101600"/>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GB" sz="1100" b="0" i="0" u="none" strike="noStrike" kern="0" cap="none" spc="0" normalizeH="0" baseline="0" noProof="0">
                <a:ln>
                  <a:noFill/>
                </a:ln>
                <a:solidFill>
                  <a:sysClr val="windowText" lastClr="000000"/>
                </a:solidFill>
                <a:effectLst/>
                <a:uLnTx/>
                <a:uFillTx/>
              </a:endParaRPr>
            </a:p>
          </p:txBody>
        </p:sp>
        <p:sp>
          <p:nvSpPr>
            <p:cNvPr id="38" name="Shape 673"/>
            <p:cNvSpPr/>
            <p:nvPr/>
          </p:nvSpPr>
          <p:spPr>
            <a:xfrm>
              <a:off x="2430784" y="2016701"/>
              <a:ext cx="76200" cy="278892"/>
            </a:xfrm>
            <a:custGeom>
              <a:avLst/>
              <a:gdLst/>
              <a:ahLst/>
              <a:cxnLst/>
              <a:rect l="0" t="0" r="0" b="0"/>
              <a:pathLst>
                <a:path w="76200" h="278892">
                  <a:moveTo>
                    <a:pt x="38100" y="0"/>
                  </a:moveTo>
                  <a:lnTo>
                    <a:pt x="41148" y="1524"/>
                  </a:lnTo>
                  <a:lnTo>
                    <a:pt x="42672" y="4572"/>
                  </a:lnTo>
                  <a:lnTo>
                    <a:pt x="42672" y="202692"/>
                  </a:lnTo>
                  <a:lnTo>
                    <a:pt x="76200" y="202692"/>
                  </a:lnTo>
                  <a:lnTo>
                    <a:pt x="38100" y="278892"/>
                  </a:lnTo>
                  <a:lnTo>
                    <a:pt x="0" y="202692"/>
                  </a:lnTo>
                  <a:lnTo>
                    <a:pt x="33528" y="202692"/>
                  </a:lnTo>
                  <a:lnTo>
                    <a:pt x="33528" y="4572"/>
                  </a:lnTo>
                  <a:lnTo>
                    <a:pt x="35052" y="1524"/>
                  </a:lnTo>
                  <a:lnTo>
                    <a:pt x="38100" y="0"/>
                  </a:lnTo>
                  <a:close/>
                </a:path>
              </a:pathLst>
            </a:custGeom>
            <a:solidFill>
              <a:srgbClr val="000000"/>
            </a:solidFill>
            <a:ln w="0" cap="rnd">
              <a:noFill/>
              <a:miter lim="101600"/>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GB" sz="1100" b="0" i="0" u="none" strike="noStrike" kern="0" cap="none" spc="0" normalizeH="0" baseline="0" noProof="0">
                <a:ln>
                  <a:noFill/>
                </a:ln>
                <a:solidFill>
                  <a:sysClr val="windowText" lastClr="000000"/>
                </a:solidFill>
                <a:effectLst/>
                <a:uLnTx/>
                <a:uFillTx/>
              </a:endParaRPr>
            </a:p>
          </p:txBody>
        </p:sp>
        <p:sp>
          <p:nvSpPr>
            <p:cNvPr id="39" name="Shape 674"/>
            <p:cNvSpPr/>
            <p:nvPr/>
          </p:nvSpPr>
          <p:spPr>
            <a:xfrm>
              <a:off x="2430784" y="2565341"/>
              <a:ext cx="76200" cy="278892"/>
            </a:xfrm>
            <a:custGeom>
              <a:avLst/>
              <a:gdLst/>
              <a:ahLst/>
              <a:cxnLst/>
              <a:rect l="0" t="0" r="0" b="0"/>
              <a:pathLst>
                <a:path w="76200" h="278892">
                  <a:moveTo>
                    <a:pt x="38100" y="0"/>
                  </a:moveTo>
                  <a:lnTo>
                    <a:pt x="41148" y="1524"/>
                  </a:lnTo>
                  <a:lnTo>
                    <a:pt x="42672" y="4572"/>
                  </a:lnTo>
                  <a:lnTo>
                    <a:pt x="42672" y="202692"/>
                  </a:lnTo>
                  <a:lnTo>
                    <a:pt x="76200" y="202692"/>
                  </a:lnTo>
                  <a:lnTo>
                    <a:pt x="38100" y="278892"/>
                  </a:lnTo>
                  <a:lnTo>
                    <a:pt x="0" y="202692"/>
                  </a:lnTo>
                  <a:lnTo>
                    <a:pt x="33528" y="202692"/>
                  </a:lnTo>
                  <a:lnTo>
                    <a:pt x="33528" y="4572"/>
                  </a:lnTo>
                  <a:lnTo>
                    <a:pt x="35052" y="1524"/>
                  </a:lnTo>
                  <a:lnTo>
                    <a:pt x="38100" y="0"/>
                  </a:lnTo>
                  <a:close/>
                </a:path>
              </a:pathLst>
            </a:custGeom>
            <a:solidFill>
              <a:srgbClr val="000000"/>
            </a:solidFill>
            <a:ln w="0" cap="rnd">
              <a:noFill/>
              <a:miter lim="101600"/>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GB" sz="1100" b="0" i="0" u="none" strike="noStrike" kern="0" cap="none" spc="0" normalizeH="0" baseline="0" noProof="0">
                <a:ln>
                  <a:noFill/>
                </a:ln>
                <a:solidFill>
                  <a:sysClr val="windowText" lastClr="000000"/>
                </a:solidFill>
                <a:effectLst/>
                <a:uLnTx/>
                <a:uFillTx/>
              </a:endParaRPr>
            </a:p>
          </p:txBody>
        </p:sp>
        <p:sp>
          <p:nvSpPr>
            <p:cNvPr id="40" name="Shape 675"/>
            <p:cNvSpPr/>
            <p:nvPr/>
          </p:nvSpPr>
          <p:spPr>
            <a:xfrm>
              <a:off x="2430784" y="3113981"/>
              <a:ext cx="76200" cy="278892"/>
            </a:xfrm>
            <a:custGeom>
              <a:avLst/>
              <a:gdLst/>
              <a:ahLst/>
              <a:cxnLst/>
              <a:rect l="0" t="0" r="0" b="0"/>
              <a:pathLst>
                <a:path w="76200" h="278892">
                  <a:moveTo>
                    <a:pt x="38100" y="0"/>
                  </a:moveTo>
                  <a:lnTo>
                    <a:pt x="41148" y="1524"/>
                  </a:lnTo>
                  <a:lnTo>
                    <a:pt x="42672" y="4572"/>
                  </a:lnTo>
                  <a:lnTo>
                    <a:pt x="42672" y="202692"/>
                  </a:lnTo>
                  <a:lnTo>
                    <a:pt x="76200" y="202692"/>
                  </a:lnTo>
                  <a:lnTo>
                    <a:pt x="38100" y="278892"/>
                  </a:lnTo>
                  <a:lnTo>
                    <a:pt x="0" y="202692"/>
                  </a:lnTo>
                  <a:lnTo>
                    <a:pt x="33528" y="202692"/>
                  </a:lnTo>
                  <a:lnTo>
                    <a:pt x="33528" y="4572"/>
                  </a:lnTo>
                  <a:lnTo>
                    <a:pt x="35052" y="1524"/>
                  </a:lnTo>
                  <a:lnTo>
                    <a:pt x="38100" y="0"/>
                  </a:lnTo>
                  <a:close/>
                </a:path>
              </a:pathLst>
            </a:custGeom>
            <a:solidFill>
              <a:srgbClr val="000000"/>
            </a:solidFill>
            <a:ln w="0" cap="rnd">
              <a:noFill/>
              <a:miter lim="101600"/>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GB" sz="1100" b="0" i="0" u="none" strike="noStrike" kern="0" cap="none" spc="0" normalizeH="0" baseline="0" noProof="0">
                <a:ln>
                  <a:noFill/>
                </a:ln>
                <a:solidFill>
                  <a:sysClr val="windowText" lastClr="000000"/>
                </a:solidFill>
                <a:effectLst/>
                <a:uLnTx/>
                <a:uFillTx/>
              </a:endParaRPr>
            </a:p>
          </p:txBody>
        </p:sp>
        <p:sp>
          <p:nvSpPr>
            <p:cNvPr id="41" name="Shape 676"/>
            <p:cNvSpPr/>
            <p:nvPr/>
          </p:nvSpPr>
          <p:spPr>
            <a:xfrm>
              <a:off x="1101856" y="3027113"/>
              <a:ext cx="269748" cy="0"/>
            </a:xfrm>
            <a:custGeom>
              <a:avLst/>
              <a:gdLst/>
              <a:ahLst/>
              <a:cxnLst/>
              <a:rect l="0" t="0" r="0" b="0"/>
              <a:pathLst>
                <a:path w="269748">
                  <a:moveTo>
                    <a:pt x="269748" y="0"/>
                  </a:moveTo>
                  <a:lnTo>
                    <a:pt x="0" y="0"/>
                  </a:lnTo>
                </a:path>
              </a:pathLst>
            </a:custGeom>
            <a:noFill/>
            <a:ln w="9525" cap="rnd" cmpd="sng" algn="ctr">
              <a:solidFill>
                <a:srgbClr val="000000"/>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GB" sz="1100" b="0" i="0" u="none" strike="noStrike" kern="0" cap="none" spc="0" normalizeH="0" baseline="0" noProof="0">
                <a:ln>
                  <a:noFill/>
                </a:ln>
                <a:solidFill>
                  <a:sysClr val="windowText" lastClr="000000"/>
                </a:solidFill>
                <a:effectLst/>
                <a:uLnTx/>
                <a:uFillTx/>
              </a:endParaRPr>
            </a:p>
          </p:txBody>
        </p:sp>
        <p:sp>
          <p:nvSpPr>
            <p:cNvPr id="42" name="Shape 677"/>
            <p:cNvSpPr/>
            <p:nvPr/>
          </p:nvSpPr>
          <p:spPr>
            <a:xfrm>
              <a:off x="1097284" y="832553"/>
              <a:ext cx="0" cy="2194560"/>
            </a:xfrm>
            <a:custGeom>
              <a:avLst/>
              <a:gdLst/>
              <a:ahLst/>
              <a:cxnLst/>
              <a:rect l="0" t="0" r="0" b="0"/>
              <a:pathLst>
                <a:path h="2194560">
                  <a:moveTo>
                    <a:pt x="0" y="2194560"/>
                  </a:moveTo>
                  <a:lnTo>
                    <a:pt x="0" y="0"/>
                  </a:lnTo>
                </a:path>
              </a:pathLst>
            </a:custGeom>
            <a:noFill/>
            <a:ln w="9525" cap="rnd" cmpd="sng" algn="ctr">
              <a:solidFill>
                <a:srgbClr val="000000"/>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GB" sz="1100" b="0" i="0" u="none" strike="noStrike" kern="0" cap="none" spc="0" normalizeH="0" baseline="0" noProof="0">
                <a:ln>
                  <a:noFill/>
                </a:ln>
                <a:solidFill>
                  <a:sysClr val="windowText" lastClr="000000"/>
                </a:solidFill>
                <a:effectLst/>
                <a:uLnTx/>
                <a:uFillTx/>
              </a:endParaRPr>
            </a:p>
          </p:txBody>
        </p:sp>
        <p:sp>
          <p:nvSpPr>
            <p:cNvPr id="43" name="Shape 678"/>
            <p:cNvSpPr/>
            <p:nvPr/>
          </p:nvSpPr>
          <p:spPr>
            <a:xfrm>
              <a:off x="1092712" y="794453"/>
              <a:ext cx="827532" cy="76200"/>
            </a:xfrm>
            <a:custGeom>
              <a:avLst/>
              <a:gdLst/>
              <a:ahLst/>
              <a:cxnLst/>
              <a:rect l="0" t="0" r="0" b="0"/>
              <a:pathLst>
                <a:path w="827532" h="76200">
                  <a:moveTo>
                    <a:pt x="751332" y="0"/>
                  </a:moveTo>
                  <a:lnTo>
                    <a:pt x="827532" y="36576"/>
                  </a:lnTo>
                  <a:lnTo>
                    <a:pt x="751332" y="76200"/>
                  </a:lnTo>
                  <a:lnTo>
                    <a:pt x="751332" y="42696"/>
                  </a:lnTo>
                  <a:lnTo>
                    <a:pt x="4572" y="44197"/>
                  </a:lnTo>
                  <a:lnTo>
                    <a:pt x="1524" y="42672"/>
                  </a:lnTo>
                  <a:lnTo>
                    <a:pt x="0" y="39624"/>
                  </a:lnTo>
                  <a:lnTo>
                    <a:pt x="1524" y="36576"/>
                  </a:lnTo>
                  <a:lnTo>
                    <a:pt x="4572" y="35052"/>
                  </a:lnTo>
                  <a:lnTo>
                    <a:pt x="751332" y="32053"/>
                  </a:lnTo>
                  <a:lnTo>
                    <a:pt x="751332" y="0"/>
                  </a:lnTo>
                  <a:close/>
                </a:path>
              </a:pathLst>
            </a:custGeom>
            <a:solidFill>
              <a:srgbClr val="000000"/>
            </a:solidFill>
            <a:ln w="0" cap="rnd">
              <a:noFill/>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GB" sz="1100" b="0" i="0" u="none" strike="noStrike" kern="0" cap="none" spc="0" normalizeH="0" baseline="0" noProof="0">
                <a:ln>
                  <a:noFill/>
                </a:ln>
                <a:solidFill>
                  <a:sysClr val="windowText" lastClr="000000"/>
                </a:solidFill>
                <a:effectLst/>
                <a:uLnTx/>
                <a:uFillTx/>
              </a:endParaRPr>
            </a:p>
          </p:txBody>
        </p:sp>
        <p:sp>
          <p:nvSpPr>
            <p:cNvPr id="44" name="Shape 679"/>
            <p:cNvSpPr/>
            <p:nvPr/>
          </p:nvSpPr>
          <p:spPr>
            <a:xfrm>
              <a:off x="3108964" y="795977"/>
              <a:ext cx="461772" cy="76200"/>
            </a:xfrm>
            <a:custGeom>
              <a:avLst/>
              <a:gdLst/>
              <a:ahLst/>
              <a:cxnLst/>
              <a:rect l="0" t="0" r="0" b="0"/>
              <a:pathLst>
                <a:path w="461772" h="76200">
                  <a:moveTo>
                    <a:pt x="76200" y="0"/>
                  </a:moveTo>
                  <a:lnTo>
                    <a:pt x="76200" y="33481"/>
                  </a:lnTo>
                  <a:lnTo>
                    <a:pt x="457200" y="32004"/>
                  </a:lnTo>
                  <a:lnTo>
                    <a:pt x="460248" y="33528"/>
                  </a:lnTo>
                  <a:lnTo>
                    <a:pt x="461772" y="36576"/>
                  </a:lnTo>
                  <a:lnTo>
                    <a:pt x="460248" y="39624"/>
                  </a:lnTo>
                  <a:lnTo>
                    <a:pt x="457200" y="41148"/>
                  </a:lnTo>
                  <a:lnTo>
                    <a:pt x="76200" y="42625"/>
                  </a:lnTo>
                  <a:lnTo>
                    <a:pt x="76200" y="76200"/>
                  </a:lnTo>
                  <a:lnTo>
                    <a:pt x="0" y="38100"/>
                  </a:lnTo>
                  <a:lnTo>
                    <a:pt x="76200" y="0"/>
                  </a:lnTo>
                  <a:close/>
                </a:path>
              </a:pathLst>
            </a:custGeom>
            <a:solidFill>
              <a:srgbClr val="000000"/>
            </a:solidFill>
            <a:ln w="0" cap="rnd">
              <a:noFill/>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GB" sz="1100" b="0" i="0" u="none" strike="noStrike" kern="0" cap="none" spc="0" normalizeH="0" baseline="0" noProof="0">
                <a:ln>
                  <a:noFill/>
                </a:ln>
                <a:solidFill>
                  <a:sysClr val="windowText" lastClr="000000"/>
                </a:solidFill>
                <a:effectLst/>
                <a:uLnTx/>
                <a:uFillTx/>
              </a:endParaRPr>
            </a:p>
          </p:txBody>
        </p:sp>
        <p:sp>
          <p:nvSpPr>
            <p:cNvPr id="45" name="Shape 680"/>
            <p:cNvSpPr/>
            <p:nvPr/>
          </p:nvSpPr>
          <p:spPr>
            <a:xfrm>
              <a:off x="3291844" y="2478473"/>
              <a:ext cx="274320" cy="1524"/>
            </a:xfrm>
            <a:custGeom>
              <a:avLst/>
              <a:gdLst/>
              <a:ahLst/>
              <a:cxnLst/>
              <a:rect l="0" t="0" r="0" b="0"/>
              <a:pathLst>
                <a:path w="274320" h="1524">
                  <a:moveTo>
                    <a:pt x="274320" y="0"/>
                  </a:moveTo>
                  <a:lnTo>
                    <a:pt x="0" y="1524"/>
                  </a:lnTo>
                </a:path>
              </a:pathLst>
            </a:custGeom>
            <a:noFill/>
            <a:ln w="9525" cap="rnd" cmpd="sng" algn="ctr">
              <a:solidFill>
                <a:srgbClr val="000000"/>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GB" sz="1100" b="0" i="0" u="none" strike="noStrike" kern="0" cap="none" spc="0" normalizeH="0" baseline="0" noProof="0">
                <a:ln>
                  <a:noFill/>
                </a:ln>
                <a:solidFill>
                  <a:sysClr val="windowText" lastClr="000000"/>
                </a:solidFill>
                <a:effectLst/>
                <a:uLnTx/>
                <a:uFillTx/>
              </a:endParaRPr>
            </a:p>
          </p:txBody>
        </p:sp>
        <p:sp>
          <p:nvSpPr>
            <p:cNvPr id="46" name="Shape 681"/>
            <p:cNvSpPr/>
            <p:nvPr/>
          </p:nvSpPr>
          <p:spPr>
            <a:xfrm>
              <a:off x="3566164" y="832553"/>
              <a:ext cx="0" cy="1645920"/>
            </a:xfrm>
            <a:custGeom>
              <a:avLst/>
              <a:gdLst/>
              <a:ahLst/>
              <a:cxnLst/>
              <a:rect l="0" t="0" r="0" b="0"/>
              <a:pathLst>
                <a:path h="1645920">
                  <a:moveTo>
                    <a:pt x="0" y="1645920"/>
                  </a:moveTo>
                  <a:lnTo>
                    <a:pt x="0" y="0"/>
                  </a:lnTo>
                </a:path>
              </a:pathLst>
            </a:custGeom>
            <a:noFill/>
            <a:ln w="9525" cap="rnd" cmpd="sng" algn="ctr">
              <a:solidFill>
                <a:srgbClr val="000000"/>
              </a:solidFill>
              <a:prstDash val="solid"/>
              <a:round/>
            </a:ln>
            <a:effectLst/>
          </p:spPr>
          <p:txBody>
            <a:bodyPr/>
            <a:lstStyle/>
            <a:p>
              <a:pPr marL="0" marR="0" lvl="0" indent="0" defTabSz="914400" eaLnBrk="1" fontAlgn="auto" latinLnBrk="0" hangingPunct="1">
                <a:lnSpc>
                  <a:spcPct val="100000"/>
                </a:lnSpc>
                <a:spcBef>
                  <a:spcPts val="0"/>
                </a:spcBef>
                <a:spcAft>
                  <a:spcPts val="0"/>
                </a:spcAft>
                <a:buClrTx/>
                <a:buSzTx/>
                <a:buFontTx/>
                <a:buNone/>
                <a:defRPr/>
              </a:pPr>
              <a:endParaRPr kumimoji="0" lang="en-GB" sz="1100" b="0" i="0" u="none" strike="noStrike" kern="0" cap="none" spc="0" normalizeH="0" baseline="0" noProof="0">
                <a:ln>
                  <a:noFill/>
                </a:ln>
                <a:solidFill>
                  <a:sysClr val="windowText" lastClr="000000"/>
                </a:solidFill>
                <a:effectLst/>
                <a:uLnTx/>
                <a:uFillTx/>
              </a:endParaRPr>
            </a:p>
          </p:txBody>
        </p:sp>
      </p:gr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42937"/>
          </a:xfrm>
        </p:spPr>
        <p:txBody>
          <a:bodyPr>
            <a:normAutofit fontScale="90000"/>
          </a:bodyPr>
          <a:lstStyle/>
          <a:p>
            <a:pPr algn="l"/>
            <a:r>
              <a:rPr lang="en-GB" sz="3600" dirty="0">
                <a:solidFill>
                  <a:srgbClr val="FF0000"/>
                </a:solidFill>
                <a:cs typeface="Times New Roman" panose="02020603050405020304" pitchFamily="18" charset="0"/>
              </a:rPr>
              <a:t>ROLE OF OPERATIONS RESEARCH IN BUSINESS </a:t>
            </a:r>
          </a:p>
        </p:txBody>
      </p:sp>
      <p:sp>
        <p:nvSpPr>
          <p:cNvPr id="3" name="Content Placeholder 2"/>
          <p:cNvSpPr>
            <a:spLocks noGrp="1"/>
          </p:cNvSpPr>
          <p:nvPr>
            <p:ph idx="1"/>
          </p:nvPr>
        </p:nvSpPr>
        <p:spPr>
          <a:xfrm>
            <a:off x="457200" y="917576"/>
            <a:ext cx="8229600" cy="5022850"/>
          </a:xfrm>
        </p:spPr>
        <p:txBody>
          <a:bodyPr>
            <a:normAutofit fontScale="92500" lnSpcReduction="20000"/>
          </a:bodyPr>
          <a:lstStyle/>
          <a:p>
            <a:pPr marL="0" indent="0" algn="just">
              <a:lnSpc>
                <a:spcPct val="170000"/>
              </a:lnSpc>
              <a:buNone/>
            </a:pPr>
            <a:r>
              <a:rPr lang="en-GB" sz="1600" dirty="0">
                <a:cs typeface="Times New Roman" panose="02020603050405020304" pitchFamily="18" charset="0"/>
              </a:rPr>
              <a:t> </a:t>
            </a:r>
            <a:r>
              <a:rPr lang="en-GB" dirty="0">
                <a:cs typeface="Times New Roman" panose="02020603050405020304" pitchFamily="18" charset="0"/>
              </a:rPr>
              <a:t>Operations Research help to determines the information requirements that enable the best decisions to be made, subject to cost constraints and to formulation of rules or procedures for making these operating decisions. It is also concern with improving the day-to-day efficiency of a company’s operation.</a:t>
            </a:r>
          </a:p>
        </p:txBody>
      </p:sp>
      <p:sp>
        <p:nvSpPr>
          <p:cNvPr id="4" name="Footer Placeholder 3"/>
          <p:cNvSpPr>
            <a:spLocks noGrp="1"/>
          </p:cNvSpPr>
          <p:nvPr>
            <p:ph type="ftr" sz="quarter" idx="11"/>
          </p:nvPr>
        </p:nvSpPr>
        <p:spPr/>
        <p:txBody>
          <a:bodyPr/>
          <a:lstStyle/>
          <a:p>
            <a:r>
              <a:rPr lang="en-US"/>
              <a:t>CSC 111 - Introduction to Computer Science: Omosebi P.A. www.trinityuniversity.edu.ng</a:t>
            </a:r>
          </a:p>
        </p:txBody>
      </p:sp>
      <p:pic>
        <p:nvPicPr>
          <p:cNvPr id="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827"/>
          <a:stretch>
            <a:fillRect/>
          </a:stretch>
        </p:blipFill>
        <p:spPr bwMode="auto">
          <a:xfrm>
            <a:off x="0" y="6076950"/>
            <a:ext cx="914400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42937"/>
          </a:xfrm>
        </p:spPr>
        <p:txBody>
          <a:bodyPr>
            <a:normAutofit fontScale="90000"/>
          </a:bodyPr>
          <a:lstStyle/>
          <a:p>
            <a:pPr algn="l"/>
            <a:r>
              <a:rPr lang="en-GB" sz="3600" dirty="0">
                <a:solidFill>
                  <a:srgbClr val="FF0000"/>
                </a:solidFill>
                <a:cs typeface="Times New Roman" panose="02020603050405020304" pitchFamily="18" charset="0"/>
              </a:rPr>
              <a:t>ROLE OF OPERATIONS RESEARCH IN BUSINESS </a:t>
            </a:r>
          </a:p>
        </p:txBody>
      </p:sp>
      <p:sp>
        <p:nvSpPr>
          <p:cNvPr id="3" name="Content Placeholder 2"/>
          <p:cNvSpPr>
            <a:spLocks noGrp="1"/>
          </p:cNvSpPr>
          <p:nvPr>
            <p:ph idx="1"/>
          </p:nvPr>
        </p:nvSpPr>
        <p:spPr>
          <a:xfrm>
            <a:off x="457200" y="917576"/>
            <a:ext cx="8229600" cy="5940424"/>
          </a:xfrm>
        </p:spPr>
        <p:txBody>
          <a:bodyPr>
            <a:normAutofit fontScale="40000" lnSpcReduction="20000"/>
          </a:bodyPr>
          <a:lstStyle/>
          <a:p>
            <a:pPr marL="0" indent="0" algn="just">
              <a:lnSpc>
                <a:spcPct val="170000"/>
              </a:lnSpc>
              <a:buNone/>
            </a:pPr>
            <a:r>
              <a:rPr lang="en-GB" sz="8800" dirty="0">
                <a:cs typeface="Times New Roman" panose="02020603050405020304" pitchFamily="18" charset="0"/>
              </a:rPr>
              <a:t>Business areas where Operations Research is applicable include: </a:t>
            </a:r>
          </a:p>
          <a:p>
            <a:pPr marL="0" indent="0" algn="just">
              <a:lnSpc>
                <a:spcPct val="170000"/>
              </a:lnSpc>
              <a:buNone/>
            </a:pPr>
            <a:r>
              <a:rPr lang="en-GB" sz="8800" dirty="0" err="1">
                <a:cs typeface="Times New Roman" panose="02020603050405020304" pitchFamily="18" charset="0"/>
              </a:rPr>
              <a:t>i</a:t>
            </a:r>
            <a:r>
              <a:rPr lang="en-GB" sz="8800" dirty="0">
                <a:cs typeface="Times New Roman" panose="02020603050405020304" pitchFamily="18" charset="0"/>
              </a:rPr>
              <a:t>. Stock re-ordering policies. </a:t>
            </a:r>
          </a:p>
          <a:p>
            <a:pPr marL="0" indent="0" algn="just">
              <a:lnSpc>
                <a:spcPct val="170000"/>
              </a:lnSpc>
              <a:buNone/>
            </a:pPr>
            <a:r>
              <a:rPr lang="en-GB" sz="8800" dirty="0">
                <a:cs typeface="Times New Roman" panose="02020603050405020304" pitchFamily="18" charset="0"/>
              </a:rPr>
              <a:t>ii. Transport schedules. </a:t>
            </a:r>
          </a:p>
          <a:p>
            <a:pPr marL="0" indent="0" algn="just">
              <a:lnSpc>
                <a:spcPct val="170000"/>
              </a:lnSpc>
              <a:buNone/>
            </a:pPr>
            <a:r>
              <a:rPr lang="en-GB" sz="8800" dirty="0">
                <a:cs typeface="Times New Roman" panose="02020603050405020304" pitchFamily="18" charset="0"/>
              </a:rPr>
              <a:t>iii. Product mix. </a:t>
            </a:r>
          </a:p>
          <a:p>
            <a:pPr marL="0" indent="0" algn="just">
              <a:lnSpc>
                <a:spcPct val="170000"/>
              </a:lnSpc>
              <a:buNone/>
            </a:pPr>
            <a:r>
              <a:rPr lang="en-GB" sz="8800" dirty="0">
                <a:cs typeface="Times New Roman" panose="02020603050405020304" pitchFamily="18" charset="0"/>
              </a:rPr>
              <a:t>iv. Production flows.</a:t>
            </a:r>
          </a:p>
        </p:txBody>
      </p:sp>
      <p:sp>
        <p:nvSpPr>
          <p:cNvPr id="4" name="Footer Placeholder 3"/>
          <p:cNvSpPr>
            <a:spLocks noGrp="1"/>
          </p:cNvSpPr>
          <p:nvPr>
            <p:ph type="ftr" sz="quarter" idx="11"/>
          </p:nvPr>
        </p:nvSpPr>
        <p:spPr/>
        <p:txBody>
          <a:bodyPr/>
          <a:lstStyle/>
          <a:p>
            <a:r>
              <a:rPr lang="en-US"/>
              <a:t>CSC 111 - Introduction to Computer Science: Omosebi P.A. www.trinityuniversity.edu.ng</a:t>
            </a:r>
          </a:p>
        </p:txBody>
      </p:sp>
      <p:pic>
        <p:nvPicPr>
          <p:cNvPr id="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827"/>
          <a:stretch>
            <a:fillRect/>
          </a:stretch>
        </p:blipFill>
        <p:spPr bwMode="auto">
          <a:xfrm>
            <a:off x="0" y="6076950"/>
            <a:ext cx="914400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642937"/>
          </a:xfrm>
        </p:spPr>
        <p:txBody>
          <a:bodyPr>
            <a:normAutofit fontScale="90000"/>
          </a:bodyPr>
          <a:lstStyle/>
          <a:p>
            <a:pPr algn="l"/>
            <a:r>
              <a:rPr lang="en-GB" sz="3600" dirty="0">
                <a:solidFill>
                  <a:srgbClr val="FF0000"/>
                </a:solidFill>
                <a:cs typeface="Times New Roman" panose="02020603050405020304" pitchFamily="18" charset="0"/>
              </a:rPr>
              <a:t>ROLE OF OPERATIONS RESEARCH IN BUSINESS </a:t>
            </a:r>
          </a:p>
        </p:txBody>
      </p:sp>
      <p:sp>
        <p:nvSpPr>
          <p:cNvPr id="3" name="Content Placeholder 2"/>
          <p:cNvSpPr>
            <a:spLocks noGrp="1"/>
          </p:cNvSpPr>
          <p:nvPr>
            <p:ph idx="1"/>
          </p:nvPr>
        </p:nvSpPr>
        <p:spPr>
          <a:xfrm>
            <a:off x="457200" y="917576"/>
            <a:ext cx="8229600" cy="5940424"/>
          </a:xfrm>
        </p:spPr>
        <p:txBody>
          <a:bodyPr>
            <a:normAutofit fontScale="32500" lnSpcReduction="20000"/>
          </a:bodyPr>
          <a:lstStyle/>
          <a:p>
            <a:pPr marL="0" indent="0" algn="just">
              <a:lnSpc>
                <a:spcPct val="170000"/>
              </a:lnSpc>
              <a:buNone/>
            </a:pPr>
            <a:r>
              <a:rPr lang="en-GB" sz="8800" dirty="0">
                <a:cs typeface="Times New Roman" panose="02020603050405020304" pitchFamily="18" charset="0"/>
              </a:rPr>
              <a:t>v. Allocation problems i.e. which jobs should be allocated to which machines. </a:t>
            </a:r>
          </a:p>
          <a:p>
            <a:pPr marL="0" indent="0" algn="just">
              <a:lnSpc>
                <a:spcPct val="170000"/>
              </a:lnSpc>
              <a:buNone/>
            </a:pPr>
            <a:r>
              <a:rPr lang="en-GB" sz="8800" dirty="0">
                <a:cs typeface="Times New Roman" panose="02020603050405020304" pitchFamily="18" charset="0"/>
              </a:rPr>
              <a:t>vi. Time wasted queuing at issuing, counters. </a:t>
            </a:r>
            <a:endParaRPr lang="en-GB" sz="8800" dirty="0" smtClean="0">
              <a:cs typeface="Times New Roman" panose="02020603050405020304" pitchFamily="18" charset="0"/>
            </a:endParaRPr>
          </a:p>
          <a:p>
            <a:pPr marL="0" indent="0" algn="just">
              <a:lnSpc>
                <a:spcPct val="170000"/>
              </a:lnSpc>
              <a:buNone/>
            </a:pPr>
            <a:r>
              <a:rPr lang="en-GB" sz="8800" dirty="0" smtClean="0">
                <a:cs typeface="Times New Roman" panose="02020603050405020304" pitchFamily="18" charset="0"/>
              </a:rPr>
              <a:t>vii</a:t>
            </a:r>
            <a:r>
              <a:rPr lang="en-GB" sz="8800" dirty="0">
                <a:cs typeface="Times New Roman" panose="02020603050405020304" pitchFamily="18" charset="0"/>
              </a:rPr>
              <a:t>. Scheduling of activities in a complex project. </a:t>
            </a:r>
          </a:p>
          <a:p>
            <a:pPr marL="0" indent="0" algn="just">
              <a:lnSpc>
                <a:spcPct val="170000"/>
              </a:lnSpc>
              <a:buNone/>
            </a:pPr>
            <a:r>
              <a:rPr lang="en-GB" sz="8800" dirty="0">
                <a:cs typeface="Times New Roman" panose="02020603050405020304" pitchFamily="18" charset="0"/>
              </a:rPr>
              <a:t>viii. General congestion problem. </a:t>
            </a:r>
          </a:p>
          <a:p>
            <a:pPr marL="0" indent="0" algn="just">
              <a:buNone/>
            </a:pPr>
            <a:r>
              <a:rPr lang="en-GB" sz="8000" dirty="0">
                <a:cs typeface="Times New Roman" panose="02020603050405020304" pitchFamily="18" charset="0"/>
              </a:rPr>
              <a:t> </a:t>
            </a:r>
          </a:p>
          <a:p>
            <a:pPr marL="0" indent="0" algn="just">
              <a:buNone/>
            </a:pPr>
            <a:endParaRPr lang="en-GB" sz="2000" dirty="0">
              <a:cs typeface="Times New Roman" panose="02020603050405020304" pitchFamily="18" charset="0"/>
            </a:endParaRPr>
          </a:p>
          <a:p>
            <a:pPr marL="0" indent="0" algn="just">
              <a:buNone/>
            </a:pPr>
            <a:r>
              <a:rPr lang="en-GB" sz="2000" dirty="0">
                <a:cs typeface="Times New Roman" panose="02020603050405020304" pitchFamily="18" charset="0"/>
              </a:rPr>
              <a:t> </a:t>
            </a:r>
          </a:p>
          <a:p>
            <a:pPr marL="0" indent="0" algn="just">
              <a:buNone/>
            </a:pPr>
            <a:endParaRPr lang="en-GB" sz="2000" dirty="0">
              <a:cs typeface="Times New Roman" panose="02020603050405020304" pitchFamily="18" charset="0"/>
            </a:endParaRPr>
          </a:p>
          <a:p>
            <a:pPr marL="0" indent="0" algn="just">
              <a:buNone/>
            </a:pPr>
            <a:endParaRPr lang="en-GB" sz="2000" dirty="0">
              <a:cs typeface="Times New Roman" panose="02020603050405020304" pitchFamily="18" charset="0"/>
            </a:endParaRPr>
          </a:p>
        </p:txBody>
      </p:sp>
      <p:sp>
        <p:nvSpPr>
          <p:cNvPr id="4" name="Footer Placeholder 3"/>
          <p:cNvSpPr>
            <a:spLocks noGrp="1"/>
          </p:cNvSpPr>
          <p:nvPr>
            <p:ph type="ftr" sz="quarter" idx="11"/>
          </p:nvPr>
        </p:nvSpPr>
        <p:spPr/>
        <p:txBody>
          <a:bodyPr/>
          <a:lstStyle/>
          <a:p>
            <a:r>
              <a:rPr lang="en-US"/>
              <a:t>CSC 111 - Introduction to Computer Science: Omosebi P.A. www.trinityuniversity.edu.ng</a:t>
            </a:r>
          </a:p>
        </p:txBody>
      </p:sp>
      <p:pic>
        <p:nvPicPr>
          <p:cNvPr id="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827"/>
          <a:stretch>
            <a:fillRect/>
          </a:stretch>
        </p:blipFill>
        <p:spPr bwMode="auto">
          <a:xfrm>
            <a:off x="0" y="6076950"/>
            <a:ext cx="914400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pPr algn="l"/>
            <a:r>
              <a:rPr lang="en-GB" sz="3600" dirty="0">
                <a:solidFill>
                  <a:srgbClr val="FF0000"/>
                </a:solidFill>
                <a:cs typeface="Times New Roman" panose="02020603050405020304" pitchFamily="18" charset="0"/>
              </a:rPr>
              <a:t>LIMITATIONS OF OPERATIONS RESEARCH </a:t>
            </a:r>
          </a:p>
        </p:txBody>
      </p:sp>
      <p:sp>
        <p:nvSpPr>
          <p:cNvPr id="3" name="Content Placeholder 2"/>
          <p:cNvSpPr>
            <a:spLocks noGrp="1"/>
          </p:cNvSpPr>
          <p:nvPr>
            <p:ph idx="1"/>
          </p:nvPr>
        </p:nvSpPr>
        <p:spPr>
          <a:xfrm>
            <a:off x="457200" y="1143000"/>
            <a:ext cx="8229600" cy="5959475"/>
          </a:xfrm>
        </p:spPr>
        <p:txBody>
          <a:bodyPr>
            <a:noAutofit/>
          </a:bodyPr>
          <a:lstStyle/>
          <a:p>
            <a:pPr marL="0" indent="0" algn="just">
              <a:lnSpc>
                <a:spcPct val="150000"/>
              </a:lnSpc>
              <a:buNone/>
            </a:pPr>
            <a:r>
              <a:rPr lang="en-GB" sz="2800" dirty="0" err="1">
                <a:cs typeface="Times New Roman" panose="02020603050405020304" pitchFamily="18" charset="0"/>
              </a:rPr>
              <a:t>i</a:t>
            </a:r>
            <a:r>
              <a:rPr lang="en-GB" sz="2800" dirty="0">
                <a:cs typeface="Times New Roman" panose="02020603050405020304" pitchFamily="18" charset="0"/>
              </a:rPr>
              <a:t>. It is often difficult to balance the requirement of reality and those of simplicity. </a:t>
            </a:r>
          </a:p>
          <a:p>
            <a:pPr marL="0" indent="0" algn="just">
              <a:lnSpc>
                <a:spcPct val="150000"/>
              </a:lnSpc>
              <a:buNone/>
            </a:pPr>
            <a:r>
              <a:rPr lang="en-GB" sz="2800" dirty="0">
                <a:cs typeface="Times New Roman" panose="02020603050405020304" pitchFamily="18" charset="0"/>
              </a:rPr>
              <a:t>ii. The quality of data collection may be poor and/or inaccurate. </a:t>
            </a:r>
          </a:p>
          <a:p>
            <a:pPr marL="0" indent="0" algn="just">
              <a:lnSpc>
                <a:spcPct val="150000"/>
              </a:lnSpc>
              <a:buNone/>
            </a:pPr>
            <a:r>
              <a:rPr lang="en-GB" sz="2800" dirty="0">
                <a:cs typeface="Times New Roman" panose="02020603050405020304" pitchFamily="18" charset="0"/>
              </a:rPr>
              <a:t>iii. In many cases, the solution of Operations Research problem is restricted by the lack of suitable solution techniques.</a:t>
            </a:r>
          </a:p>
        </p:txBody>
      </p:sp>
      <p:sp>
        <p:nvSpPr>
          <p:cNvPr id="4" name="Footer Placeholder 3"/>
          <p:cNvSpPr>
            <a:spLocks noGrp="1"/>
          </p:cNvSpPr>
          <p:nvPr>
            <p:ph type="ftr" sz="quarter" idx="11"/>
          </p:nvPr>
        </p:nvSpPr>
        <p:spPr/>
        <p:txBody>
          <a:bodyPr/>
          <a:lstStyle/>
          <a:p>
            <a:r>
              <a:rPr lang="en-US"/>
              <a:t>CSC 111 - Introduction to Computer Science: Omosebi P.A. www.trinityuniversity.edu.ng</a:t>
            </a:r>
          </a:p>
        </p:txBody>
      </p:sp>
      <p:pic>
        <p:nvPicPr>
          <p:cNvPr id="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827"/>
          <a:stretch>
            <a:fillRect/>
          </a:stretch>
        </p:blipFill>
        <p:spPr bwMode="auto">
          <a:xfrm>
            <a:off x="0" y="6076950"/>
            <a:ext cx="914400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pPr algn="l"/>
            <a:r>
              <a:rPr lang="en-GB" sz="3600" dirty="0">
                <a:solidFill>
                  <a:srgbClr val="FF0000"/>
                </a:solidFill>
                <a:cs typeface="Times New Roman" panose="02020603050405020304" pitchFamily="18" charset="0"/>
              </a:rPr>
              <a:t>LIMITATIONS OF OPERATIONS RESEARCH </a:t>
            </a:r>
          </a:p>
        </p:txBody>
      </p:sp>
      <p:sp>
        <p:nvSpPr>
          <p:cNvPr id="3" name="Content Placeholder 2"/>
          <p:cNvSpPr>
            <a:spLocks noGrp="1"/>
          </p:cNvSpPr>
          <p:nvPr>
            <p:ph idx="1"/>
          </p:nvPr>
        </p:nvSpPr>
        <p:spPr>
          <a:xfrm>
            <a:off x="457200" y="1143000"/>
            <a:ext cx="8229600" cy="5959475"/>
          </a:xfrm>
        </p:spPr>
        <p:txBody>
          <a:bodyPr>
            <a:noAutofit/>
          </a:bodyPr>
          <a:lstStyle/>
          <a:p>
            <a:pPr marL="0" indent="0" algn="just">
              <a:lnSpc>
                <a:spcPct val="150000"/>
              </a:lnSpc>
              <a:buNone/>
            </a:pPr>
            <a:r>
              <a:rPr lang="en-GB" sz="2800" dirty="0">
                <a:cs typeface="Times New Roman" panose="02020603050405020304" pitchFamily="18" charset="0"/>
              </a:rPr>
              <a:t>iv. The derived solution may be sub-optimal i.e. the boundaries of the problem may be open. </a:t>
            </a:r>
          </a:p>
          <a:p>
            <a:pPr marL="0" indent="0" algn="just">
              <a:lnSpc>
                <a:spcPct val="150000"/>
              </a:lnSpc>
              <a:buNone/>
            </a:pPr>
            <a:r>
              <a:rPr lang="en-GB" sz="2800" dirty="0">
                <a:cs typeface="Times New Roman" panose="02020603050405020304" pitchFamily="18" charset="0"/>
              </a:rPr>
              <a:t>v. An Operations Research model is static but the solution it imitates is dynamics. </a:t>
            </a:r>
          </a:p>
          <a:p>
            <a:pPr marL="0" indent="0" algn="just">
              <a:lnSpc>
                <a:spcPct val="150000"/>
              </a:lnSpc>
              <a:buNone/>
            </a:pPr>
            <a:r>
              <a:rPr lang="en-GB" sz="2800" dirty="0">
                <a:cs typeface="Times New Roman" panose="02020603050405020304" pitchFamily="18" charset="0"/>
              </a:rPr>
              <a:t>vi. Conflict between conclusion reached by the Operations Research analyst and the opinion of time managers as to the best course of action.</a:t>
            </a:r>
          </a:p>
        </p:txBody>
      </p:sp>
      <p:sp>
        <p:nvSpPr>
          <p:cNvPr id="4" name="Footer Placeholder 3"/>
          <p:cNvSpPr>
            <a:spLocks noGrp="1"/>
          </p:cNvSpPr>
          <p:nvPr>
            <p:ph type="ftr" sz="quarter" idx="11"/>
          </p:nvPr>
        </p:nvSpPr>
        <p:spPr/>
        <p:txBody>
          <a:bodyPr/>
          <a:lstStyle/>
          <a:p>
            <a:r>
              <a:rPr lang="en-US"/>
              <a:t>CSC 111 - Introduction to Computer Science: Omosebi P.A. www.trinityuniversity.edu.ng</a:t>
            </a:r>
          </a:p>
        </p:txBody>
      </p:sp>
      <p:pic>
        <p:nvPicPr>
          <p:cNvPr id="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827"/>
          <a:stretch>
            <a:fillRect/>
          </a:stretch>
        </p:blipFill>
        <p:spPr bwMode="auto">
          <a:xfrm>
            <a:off x="0" y="6076950"/>
            <a:ext cx="914400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487362"/>
          </a:xfrm>
        </p:spPr>
        <p:txBody>
          <a:bodyPr>
            <a:normAutofit fontScale="90000"/>
          </a:bodyPr>
          <a:lstStyle/>
          <a:p>
            <a:pPr algn="l"/>
            <a:r>
              <a:rPr lang="en-GB" sz="3600" dirty="0">
                <a:solidFill>
                  <a:srgbClr val="FF0000"/>
                </a:solidFill>
                <a:cs typeface="Times New Roman" panose="02020603050405020304" pitchFamily="18" charset="0"/>
              </a:rPr>
              <a:t>PRACTICAL USE OF COMPUTER IN OR </a:t>
            </a:r>
          </a:p>
        </p:txBody>
      </p:sp>
      <p:sp>
        <p:nvSpPr>
          <p:cNvPr id="3" name="Content Placeholder 2"/>
          <p:cNvSpPr>
            <a:spLocks noGrp="1"/>
          </p:cNvSpPr>
          <p:nvPr>
            <p:ph idx="1"/>
          </p:nvPr>
        </p:nvSpPr>
        <p:spPr>
          <a:xfrm>
            <a:off x="457200" y="762000"/>
            <a:ext cx="8229600" cy="5178425"/>
          </a:xfrm>
        </p:spPr>
        <p:txBody>
          <a:bodyPr>
            <a:normAutofit fontScale="92500" lnSpcReduction="10000"/>
          </a:bodyPr>
          <a:lstStyle/>
          <a:p>
            <a:pPr marL="0" indent="0" algn="just">
              <a:lnSpc>
                <a:spcPct val="170000"/>
              </a:lnSpc>
              <a:buNone/>
            </a:pPr>
            <a:r>
              <a:rPr lang="en-GB" sz="3600" dirty="0">
                <a:cs typeface="Times New Roman" panose="02020603050405020304" pitchFamily="18" charset="0"/>
              </a:rPr>
              <a:t>The computer as we all know is the major modern in information technology equipment. </a:t>
            </a:r>
          </a:p>
          <a:p>
            <a:pPr marL="0" indent="0" algn="just">
              <a:lnSpc>
                <a:spcPct val="170000"/>
              </a:lnSpc>
              <a:buNone/>
            </a:pPr>
            <a:r>
              <a:rPr lang="en-GB" sz="3600" dirty="0">
                <a:cs typeface="Times New Roman" panose="02020603050405020304" pitchFamily="18" charset="0"/>
              </a:rPr>
              <a:t>One of its uses, which most people in our part of the world are not yet attuned to, is problem-solving. Operations research uses the computer in this regard.  </a:t>
            </a:r>
          </a:p>
        </p:txBody>
      </p:sp>
      <p:sp>
        <p:nvSpPr>
          <p:cNvPr id="4" name="Footer Placeholder 3"/>
          <p:cNvSpPr>
            <a:spLocks noGrp="1"/>
          </p:cNvSpPr>
          <p:nvPr>
            <p:ph type="ftr" sz="quarter" idx="11"/>
          </p:nvPr>
        </p:nvSpPr>
        <p:spPr/>
        <p:txBody>
          <a:bodyPr/>
          <a:lstStyle/>
          <a:p>
            <a:r>
              <a:rPr lang="en-US"/>
              <a:t>CSC 111 - Introduction to Computer Science: Omosebi P.A. www.trinityuniversity.edu.ng</a:t>
            </a:r>
          </a:p>
        </p:txBody>
      </p:sp>
      <p:pic>
        <p:nvPicPr>
          <p:cNvPr id="6"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827"/>
          <a:stretch>
            <a:fillRect/>
          </a:stretch>
        </p:blipFill>
        <p:spPr bwMode="auto">
          <a:xfrm>
            <a:off x="0" y="6076950"/>
            <a:ext cx="914400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rotWithShape="1">
          <a:blip r:embed="rId2">
            <a:extLst>
              <a:ext uri="{28A0092B-C50C-407E-A947-70E740481C1C}">
                <a14:useLocalDpi xmlns:a14="http://schemas.microsoft.com/office/drawing/2010/main" val="0"/>
              </a:ext>
            </a:extLst>
          </a:blip>
          <a:srcRect r="827"/>
          <a:stretch>
            <a:fillRect/>
          </a:stretch>
        </p:blipFill>
        <p:spPr bwMode="auto">
          <a:xfrm>
            <a:off x="0" y="6076950"/>
            <a:ext cx="9144000" cy="781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Footer Placeholder 2"/>
          <p:cNvSpPr>
            <a:spLocks noGrp="1"/>
          </p:cNvSpPr>
          <p:nvPr>
            <p:ph type="ftr" sz="quarter" idx="11"/>
          </p:nvPr>
        </p:nvSpPr>
        <p:spPr/>
        <p:txBody>
          <a:bodyPr/>
          <a:lstStyle/>
          <a:p>
            <a:r>
              <a:rPr lang="en-US"/>
              <a:t>CSC 111 - Introduction to Computer Science: Omosebi P.A. www.trinityuniversity.edu.ng</a:t>
            </a:r>
          </a:p>
        </p:txBody>
      </p:sp>
      <p:sp>
        <p:nvSpPr>
          <p:cNvPr id="4" name="Title 3"/>
          <p:cNvSpPr>
            <a:spLocks noGrp="1"/>
          </p:cNvSpPr>
          <p:nvPr>
            <p:ph type="title"/>
          </p:nvPr>
        </p:nvSpPr>
        <p:spPr/>
        <p:txBody>
          <a:bodyPr/>
          <a:lstStyle/>
          <a:p>
            <a:endParaRPr lang="en-US"/>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2722</TotalTime>
  <Words>1106</Words>
  <Application>Microsoft Office PowerPoint</Application>
  <PresentationFormat>On-screen Show (4:3)</PresentationFormat>
  <Paragraphs>106</Paragraphs>
  <Slides>18</Slides>
  <Notes>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18</vt:i4>
      </vt:variant>
    </vt:vector>
  </HeadingPairs>
  <TitlesOfParts>
    <vt:vector size="22" baseType="lpstr">
      <vt:lpstr>Arial</vt:lpstr>
      <vt:lpstr>Calibri</vt:lpstr>
      <vt:lpstr>Times New Roman</vt:lpstr>
      <vt:lpstr>Office Theme</vt:lpstr>
      <vt:lpstr>Computational Science and Numerical Methods (CSC 317) </vt:lpstr>
      <vt:lpstr>O.R. AS AN ADAPTATION OF THE SCIENTIFIC APPROACH </vt:lpstr>
      <vt:lpstr>O.R. AS AN ADAPTATION OF THE SCIENTIFIC APPROACH </vt:lpstr>
      <vt:lpstr>O.R. AS AN ADAPTATION OF THE SCIENTIFIC APPROACH </vt:lpstr>
      <vt:lpstr>O.R. AS AN ADAPTATION OF THE SCIENTIFIC APPROACH </vt:lpstr>
      <vt:lpstr>O.R. AS AN ADAPTATION OF THE SCIENTIFIC APPROACH </vt:lpstr>
      <vt:lpstr>O.R. AS AN ADAPTATION OF THE SCIENTIFIC APPROACH </vt:lpstr>
      <vt:lpstr>O.R. AS AN ADAPTATION OF THE SCIENTIFIC APPROACH </vt:lpstr>
      <vt:lpstr>O.R. AS AN ADAPTATION OF THE SCIENTIFIC APPROACH </vt:lpstr>
      <vt:lpstr>O.R. AS AN ADAPTATION OF THE SCIENTIFIC APPROACH </vt:lpstr>
      <vt:lpstr>FLOW CHART SHOWING THE STAGES IN OPERATIONS RESEARCH </vt:lpstr>
      <vt:lpstr>ROLE OF OPERATIONS RESEARCH IN BUSINESS </vt:lpstr>
      <vt:lpstr>ROLE OF OPERATIONS RESEARCH IN BUSINESS </vt:lpstr>
      <vt:lpstr>ROLE OF OPERATIONS RESEARCH IN BUSINESS </vt:lpstr>
      <vt:lpstr>LIMITATIONS OF OPERATIONS RESEARCH </vt:lpstr>
      <vt:lpstr>LIMITATIONS OF OPERATIONS RESEARCH </vt:lpstr>
      <vt:lpstr>PRACTICAL USE OF COMPUTER IN OR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University System – The Trinity University of Our Dream</dc:title>
  <dc:creator>Omosebi</dc:creator>
  <cp:lastModifiedBy>User</cp:lastModifiedBy>
  <cp:revision>93</cp:revision>
  <dcterms:created xsi:type="dcterms:W3CDTF">2019-05-19T08:06:00Z</dcterms:created>
  <dcterms:modified xsi:type="dcterms:W3CDTF">2023-10-10T12:35:01Z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08E2CBD428B04128ABA7352F68CC3DB3</vt:lpwstr>
  </property>
  <property fmtid="{D5CDD505-2E9C-101B-9397-08002B2CF9AE}" pid="3" name="KSOProductBuildVer">
    <vt:lpwstr>2057-11.2.0.10351</vt:lpwstr>
  </property>
</Properties>
</file>